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1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60px', background: '#F7F9FC', justifyContent: 'center' }}&gt;&#10;  &lt;Box style={{ position: 'absolute', left: 0, top: 0, width: 16, height: 720, background: '#1E4FA8' }} /&gt;&#10;  &lt;Box style={{ width: 1040, alignSelf: 'center', alignItems: 'center' }}&gt;&#10;    &lt;Text style={{ fontSize: 18, color: '#3D7BD9', fontWeight: 'bold', letterSpacing: 2, textAlign: 'center' }}&gt;结题答辩 · 版本 1.3.1&lt;/Text&gt;&#10;    &lt;Text style={{ fontSize: 58, color: '#1A2230', fontWeight: 'bold', lineHeight: 1.2, textAlign: 'center', marginTop: 28 }}&gt;面向大学生的多智能体智能授课软件&lt;/Text&gt;&#10;    &lt;Text style={{ fontSize: 28, color: '#1E4FA8', fontWeight: 'bold', textAlign: 'center', marginTop: 24 }}&gt;知行：个性化多智能体学习工作室&lt;/Text&gt;&#10;    &lt;Text style={{ fontSize: 16, color: '#4A5568', lineHeight: 1.6, textAlign: 'center', marginTop: 46 }}&gt;汇报人：【汇报人】　　团队成员：【成员姓名】&lt;br /&gt;2026 年 10 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114925" y="2000250"/>
            <a:ext cx="1962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 spc="150">
                <a:solidFill>
                  <a:srgbClr val="3D7BD9"/>
                </a:solidFill>
                <a:latin typeface="Microsoft YaHei"/>
                <a:ea typeface="Microsoft YaHei"/>
              </a:rPr>
              <a:t>结题答辩</a:t>
            </a:r>
            <a:r>
              <a:rPr lang="en-US" sz="1350" b="1" spc="150">
                <a:solidFill>
                  <a:srgbClr val="3D7BD9"/>
                </a:solidFill>
                <a:latin typeface="Microsoft YaHei"/>
                <a:ea typeface="Microsoft YaHei"/>
              </a:rPr>
              <a:t> · </a:t>
            </a:r>
            <a:r>
              <a:rPr lang="zh-CN" sz="1350" b="1" spc="150">
                <a:solidFill>
                  <a:srgbClr val="3D7BD9"/>
                </a:solidFill>
                <a:latin typeface="Microsoft YaHei"/>
                <a:ea typeface="Microsoft YaHei"/>
              </a:rPr>
              <a:t>版本</a:t>
            </a:r>
            <a:r>
              <a:rPr lang="en-US" sz="1350" b="1" spc="150">
                <a:solidFill>
                  <a:srgbClr val="3D7BD9"/>
                </a:solidFill>
                <a:latin typeface="Microsoft YaHei"/>
                <a:ea typeface="Microsoft YaHei"/>
              </a:rPr>
              <a:t> 1.3.1</a:t>
            </a:r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1676400" y="2476500"/>
            <a:ext cx="8839200" cy="8001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</a:pPr>
            <a:r>
              <a:rPr lang="zh-CN" sz="4350" b="1">
                <a:solidFill>
                  <a:srgbClr val="1A2230"/>
                </a:solidFill>
                <a:latin typeface="Microsoft YaHei"/>
                <a:ea typeface="Microsoft YaHei"/>
              </a:rPr>
              <a:t>面向大学生的多智能体智能授课软件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4095750" y="3505200"/>
            <a:ext cx="4000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2100" b="1">
                <a:solidFill>
                  <a:srgbClr val="1E4FA8"/>
                </a:solidFill>
                <a:latin typeface="Microsoft YaHei"/>
                <a:ea typeface="Microsoft YaHei"/>
              </a:rPr>
              <a:t>知行：个性化多智能体学习工作室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4419600" y="4267200"/>
            <a:ext cx="3352800" cy="590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60000"/>
              </a:lnSpc>
            </a:pPr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</a:rPr>
              <a:t>汇报人：汤家齐　　团队成员：张清波、吕绍康</a:t>
            </a:r>
            <a:r>
              <a:rPr lang="zh-CN" altLang="en-US" sz="1200" dirty="0">
                <a:solidFill>
                  <a:srgbClr val="4A5568"/>
                </a:solidFill>
                <a:latin typeface="Microsoft YaHei"/>
                <a:ea typeface="Microsoft YaHei"/>
              </a:rPr>
              <a:t/>
            </a:r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</a:rPr>
              <a:t/>
            </a:r>
            <a:r>
              <a:rPr lang="zh-CN" altLang="en-US" sz="1200" dirty="0">
                <a:solidFill>
                  <a:srgbClr val="4A5568"/>
                </a:solidFill>
                <a:latin typeface="Microsoft YaHei"/>
                <a:ea typeface="Microsoft YaHei"/>
              </a:rPr>
              <a:t/>
            </a:r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</a:rPr>
              <a:t/>
            </a:r>
            <a:endParaRPr dirty="0"/>
          </a:p>
          <a:p>
            <a:pPr algn="ctr">
              <a:lnSpc>
                <a:spcPct val="160000"/>
              </a:lnSpc>
            </a:pPr>
            <a:r>
              <a:rPr lang="en-US" sz="1200" dirty="0">
                <a:solidFill>
                  <a:srgbClr val="4A5568"/>
                </a:solidFill>
                <a:latin typeface="Microsoft YaHei"/>
                <a:ea typeface="Microsoft YaHei"/>
              </a:rPr>
              <a:t>2026 </a:t>
            </a:r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</a:rPr>
              <a:t>年</a:t>
            </a:r>
            <a:r>
              <a:rPr lang="en-US" sz="1200" dirty="0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endParaRPr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汇报内容&lt;/Text&gt;&#10;    &lt;Text style={{ fontSize: 16, color: '#DCE8FA' }}&gt;CONTENTS&lt;/Text&gt;&#10;  &lt;/Box&gt;&#10;  &lt;Box style={{ width: 1160, height: 540, margin: '28px 60px 0', flexDirection: 'column' }}&gt;&#10;    &lt;Text style={{ fontSize: 20, color: '#4A5568', lineHeight: 1.5 }}&gt;按照项目设计、团队分工、系统演示、总结反思四个部分展开。&lt;/Text&gt;&#10;    &lt;Box style={{ marginTop: 24, width: 1160, borderTop: '1px solid #D6DCE5' }} /&gt;&#10;    &lt;Box style={{ marginTop: 20, flexDirection: 'row', alignItems: 'flex-start', gap: 24 }}&gt;&#10;      &lt;Text style={{ width: 58, fontSize: 30, color: '#1E4FA8', fontWeight: 'bold' }}&gt;01&lt;/Text&gt;&#10;      &lt;Box style={{ flex: 1 }}&gt;&#10;        &lt;Text style={{ fontSize: 25, color: '#1A2230', fontWeight: 'bold' }}&gt;项目设计流程与内容&lt;/Text&gt;&#10;        &lt;Text style={{ fontSize: 19, color: '#4A5568', marginTop: 8 }}&gt;选题背景、需求分析、总体方案、技术路线与实施过程&lt;/Text&gt;&#10;      &lt;/Box&gt;&#10;    &lt;/Box&gt;&#10;    &lt;Box style={{ marginTop: 20, width: 1160, borderTop: '1px solid #E5E7EB' }} /&gt;&#10;    &lt;Box style={{ marginTop: 20, flexDirection: 'row', alignItems: 'flex-start', gap: 24 }}&gt;&#10;      &lt;Text style={{ width: 58, fontSize: 30, color: '#1E4FA8', fontWeight: 'bold' }}&gt;02&lt;/Text&gt;&#10;      &lt;Box style={{ flex: 1 }}&gt;&#10;        &lt;Text style={{ fontSize: 25, color: '#1A2230', fontWeight: 'bold' }}&gt;团队分工&lt;/Text&gt;&#10;        &lt;Text style={{ fontSize: 19, color: '#4A5568', marginTop: 8 }}&gt;成员角色、任务分配、协作方式与具体贡献&lt;/Text&gt;&#10;      &lt;/Box&gt;&#10;    &lt;/Box&gt;&#10;    &lt;Box style={{ marginTop: 20, width: 1160, borderTop: '1px solid #E5E7EB' }} /&gt;&#10;    &lt;Box style={{ marginTop: 20, flexDirection: 'row', alignItems: 'flex-start', gap: 24 }}&gt;&#10;      &lt;Text style={{ width: 58, fontSize: 30, color: '#1E4FA8', fontWeight: 'bold' }}&gt;03&lt;/Text&gt;&#10;      &lt;Box style={{ flex: 1 }}&gt;&#10;        &lt;Text style={{ fontSize: 25, color: '#1A2230', fontWeight: 'bold' }}&gt;操作演示&lt;/Text&gt;&#10;        &lt;Text style={{ fontSize: 19, color: '#4A5568', marginTop: 8 }}&gt;建课、测评、学习、练习反馈、申诉与教师审核&lt;/Text&gt;&#10;      &lt;/Box&gt;&#10;    &lt;/Box&gt;&#10;    &lt;Box style={{ marginTop: 20, width: 1160, borderTop: '1px solid #E5E7EB' }} /&gt;&#10;    &lt;Box style={{ marginTop: 20, flexDirection: 'row', alignItems: 'flex-start', gap: 24 }}&gt;&#10;      &lt;Text style={{ width: 58, fontSize: 30, color: '#1E4FA8', fontWeight: 'bold' }}&gt;04&lt;/Text&gt;&#10;      &lt;Box style={{ flex: 1 }}&gt;&#10;        &lt;Text style={{ fontSize: 25, color: '#1A2230', fontWeight: 'bold' }}&gt;项目总结与反思&lt;/Text&gt;&#10;        &lt;Text style={{ fontSize: 19, color: '#4A5568', marginTop: 8 }}&gt;完成情况、项目亮点、存在问题与改进方向&lt;/Text&gt;&#10;      &lt;/Box&gt;&#10;    &lt;/Box&gt;&#10;    &lt;Box style={{ marginTop: 28, width: 1160, background: '#E8EFF8', padding: '14px 18px' }}&gt;&#10;      &lt;Text style={{ fontSize: 19, color: '#1E4FA8', fontWeight: 'bold' }}&gt;主线：个性化学习路径如何形成，并如何依靠系统持续执行。&lt;/Text&gt;&#10;    &lt;/Box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矩形 72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571500" y="133350"/>
            <a:ext cx="1295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汇报内容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0801350" y="228600"/>
            <a:ext cx="819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71500" y="914400"/>
            <a:ext cx="11049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按照项目设计、团队分工、系统演示、总结反思四个部分展开。</a:t>
            </a:r>
            <a:endParaRPr/>
          </a:p>
        </p:txBody>
      </p:sp>
      <p:sp>
        <p:nvSpPr>
          <p:cNvPr id="77" name="任意多边形: 形状 76"/>
          <p:cNvSpPr/>
          <p:nvPr/>
        </p:nvSpPr>
        <p:spPr>
          <a:xfrm>
            <a:off x="571500" y="1485900"/>
            <a:ext cx="11049000" cy="19050"/>
          </a:xfrm>
          <a:custGeom>
            <a:avLst/>
            <a:gdLst/>
            <a:ahLst/>
            <a:cxnLst/>
            <a:rect l="0" t="0" r="0" b="0"/>
            <a:pathLst>
              <a:path w="1160" h="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571500" y="1685925"/>
            <a:ext cx="552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352550" y="1685925"/>
            <a:ext cx="102679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项目设计流程与内容</a:t>
            </a:r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352550" y="204787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选题背景、需求分析、总体方案、技术路线与实施过程</a:t>
            </a:r>
            <a:endParaRPr/>
          </a:p>
        </p:txBody>
      </p:sp>
      <p:sp>
        <p:nvSpPr>
          <p:cNvPr id="81" name="任意多边形: 形状 80"/>
          <p:cNvSpPr/>
          <p:nvPr/>
        </p:nvSpPr>
        <p:spPr>
          <a:xfrm>
            <a:off x="571500" y="2457450"/>
            <a:ext cx="11049000" cy="19050"/>
          </a:xfrm>
          <a:custGeom>
            <a:avLst/>
            <a:gdLst/>
            <a:ahLst/>
            <a:cxnLst/>
            <a:rect l="0" t="0" r="0" b="0"/>
            <a:pathLst>
              <a:path w="1160" h="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571500" y="2657475"/>
            <a:ext cx="552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352550" y="2657475"/>
            <a:ext cx="102679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团队分工</a:t>
            </a:r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1352550" y="301942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成员角色、任务分配、协作方式与具体贡献</a:t>
            </a:r>
            <a:endParaRPr/>
          </a:p>
        </p:txBody>
      </p:sp>
      <p:sp>
        <p:nvSpPr>
          <p:cNvPr id="85" name="任意多边形: 形状 84"/>
          <p:cNvSpPr/>
          <p:nvPr/>
        </p:nvSpPr>
        <p:spPr>
          <a:xfrm>
            <a:off x="571500" y="3429000"/>
            <a:ext cx="11049000" cy="19050"/>
          </a:xfrm>
          <a:custGeom>
            <a:avLst/>
            <a:gdLst/>
            <a:ahLst/>
            <a:cxnLst/>
            <a:rect l="0" t="0" r="0" b="0"/>
            <a:pathLst>
              <a:path w="1160" h="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571500" y="3629025"/>
            <a:ext cx="552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1352550" y="3629025"/>
            <a:ext cx="102679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操作演示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352550" y="399097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建课、测评、学习、练习反馈、申诉与教师审核</a:t>
            </a:r>
            <a:endParaRPr/>
          </a:p>
        </p:txBody>
      </p:sp>
      <p:sp>
        <p:nvSpPr>
          <p:cNvPr id="89" name="任意多边形: 形状 88"/>
          <p:cNvSpPr/>
          <p:nvPr/>
        </p:nvSpPr>
        <p:spPr>
          <a:xfrm>
            <a:off x="571500" y="4400550"/>
            <a:ext cx="11049000" cy="19050"/>
          </a:xfrm>
          <a:custGeom>
            <a:avLst/>
            <a:gdLst/>
            <a:ahLst/>
            <a:cxnLst/>
            <a:rect l="0" t="0" r="0" b="0"/>
            <a:pathLst>
              <a:path w="1160" h="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571500" y="4600575"/>
            <a:ext cx="552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352550" y="4600575"/>
            <a:ext cx="102679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项目总结与反思</a:t>
            </a:r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1352550" y="496252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完成情况、项目亮点、存在问题与改进方向</a:t>
            </a:r>
            <a:endParaRPr/>
          </a:p>
        </p:txBody>
      </p:sp>
      <p:sp>
        <p:nvSpPr>
          <p:cNvPr id="93" name="矩形 92"/>
          <p:cNvSpPr/>
          <p:nvPr/>
        </p:nvSpPr>
        <p:spPr>
          <a:xfrm>
            <a:off x="571500" y="5448300"/>
            <a:ext cx="11049000" cy="485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742950" y="5581650"/>
            <a:ext cx="10706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主线：个性化学习路径如何形成，并如何依靠系统持续执行。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选题背景与需求分析&lt;/Text&gt;&#10;    &lt;Text style={{ fontSize: 16, color: '#DCE8FA' }}&gt;01 · PROJECT DESIGN&lt;/Text&gt;&#10;  &lt;/Box&gt;&#10;  &lt;Box style={{ width: 1160, height: 540, margin: '28px 60px 0', flexDirection: 'column' }}&gt;&#10;    &lt;Box style={{ width: 1160, height: 64, background: '#E8EFF8', padding: '10px 18px', borderLeft: '4px solid #1E4FA8' }}&gt;&#10;      &lt;Text style={{ fontSize: 15, color: '#1E4FA8', fontWeight: 'bold' }}&gt;核心问题&lt;/Text&gt;&#10;      &lt;Text style={{ fontSize: 20, color: '#1A2230', marginTop: 4 }}&gt;自学不是缺资料，而是缺少可持续执行的学习路径与反馈。&lt;/Text&gt;&#10;    &lt;/Box&gt;&#10;    &lt;Box style={{ marginTop: 24, flexDirection: 'row', gap: 32, height: 400 }}&gt;&#10;      &lt;Box style={{ width: 472, flexDirection: 'column' }}&gt;&#10;        &lt;Text style={{ fontSize: 24, color: '#1A2230', fontWeight: 'bold' }}&gt;学习中的三个断点&lt;/Text&gt;&#10;        &lt;Box style={{ marginTop: 18, width: 472, height: 94, borderTop: '1px solid #D6DCE5', paddingTop: 12 }}&gt;&#10;          &lt;Text style={{ fontSize: 21, color: '#1E4FA8', fontWeight: 'bold' }}&gt;顺序不清&lt;/Text&gt;&#10;          &lt;Text style={{ fontSize: 18, color: '#4A5568', marginTop: 6 }}&gt;不知道先学什么、后学什么，容易在难点前反复停滞。&lt;/Text&gt;&#10;        &lt;/Box&gt;&#10;        &lt;Box style={{ marginTop: 14, width: 472, height: 94, borderTop: '1px solid #D6DCE5', paddingTop: 12 }}&gt;&#10;          &lt;Text style={{ fontSize: 21, color: '#1E4FA8', fontWeight: 'bold' }}&gt;难度不匹配&lt;/Text&gt;&#10;          &lt;Text style={{ fontSize: 18, color: '#4A5568', marginTop: 6 }}&gt;统一讲义和统一练习，无法适配不同基础与目标。&lt;/Text&gt;&#10;        &lt;/Box&gt;&#10;        &lt;Box style={{ marginTop: 14, width: 472, height: 94, borderTop: '1px solid #D6DCE5', paddingTop: 12 }}&gt;&#10;          &lt;Text style={{ fontSize: 21, color: '#1E4FA8', fontWeight: 'bold' }}&gt;反馈不连续&lt;/Text&gt;&#10;          &lt;Text style={{ fontSize: 18, color: '#4A5568', marginTop: 6 }}&gt;听懂了却没有及时练习，答错后也缺少针对性补讲。&lt;/Text&gt;&#10;        &lt;/Box&gt;&#10;      &lt;/Box&gt;&#10;      &lt;Box style={{ width: 656, flexDirection: 'column' }}&gt;&#10;        &lt;Text style={{ fontSize: 24, color: '#1A2230', fontWeight: 'bold' }}&gt;产品需求&lt;/Text&gt;&#10;        &lt;Box style={{ marginTop: 18, width: 656, height: 94, background: '#F7F9FC', padding: '12px 18px', flexDirection: 'row', gap: 16 }}&gt;&#10;          &lt;Text style={{ fontSize: 26, color: '#1E4FA8', fontWeight: 'bold' }}&gt;01&lt;/Text&gt;&#10;          &lt;Box&gt;&#10;            &lt;Text style={{ fontSize: 21, color: '#1A2230', fontWeight: 'bold' }}&gt;生成个性化路径&lt;/Text&gt;&#10;            &lt;Text style={{ fontSize: 18, color: '#4A5568', marginTop: 4 }}&gt;依据基础、目标、时间与前测结果安排单元顺序。&lt;/Text&gt;&#10;          &lt;/Box&gt;&#10;        &lt;/Box&gt;&#10;        &lt;Box style={{ marginTop: 14, width: 656, height: 94, background: '#F7F9FC', padding: '12px 18px', flexDirection: 'row', gap: 16 }}&gt;&#10;          &lt;Text style={{ fontSize: 26, color: '#1E4FA8', fontWeight: 'bold' }}&gt;02&lt;/Text&gt;&#10;          &lt;Box&gt;&#10;            &lt;Text style={{ fontSize: 21, color: '#1A2230', fontWeight: 'bold' }}&gt;形成教学闭环&lt;/Text&gt;&#10;            &lt;Text style={{ fontSize: 18, color: '#4A5568', marginTop: 4 }}&gt;诊断、规划、授课、练习、批改与补讲连续衔接。&lt;/Text&gt;&#10;          &lt;/Box&gt;&#10;        &lt;/Box&gt;&#10;        &lt;Box style={{ marginTop: 14, width: 656, height: 94, background: '#F7F9FC', padding: '12px 18px', flexDirection: 'row', gap: 16 }}&gt;&#10;          &lt;Text style={{ fontSize: 26, color: '#1E4FA8', fontWeight: 'bold' }}&gt;03&lt;/Text&gt;&#10;          &lt;Box&gt;&#10;            &lt;Text style={{ fontSize: 21, color: '#1A2230', fontWeight: 'bold' }}&gt;提高过程可控性&lt;/Text&gt;&#10;            &lt;Text style={{ fontSize: 18, color: '#4A5568', marginTop: 4 }}&gt;知识图谱控制顺序，数学核验与教师审核约束结果。&lt;/Text&gt;&#10;          &lt;/Box&gt;&#10;        &lt;/Box&gt;&#10;      &lt;/Box&gt;&#10;    &lt;/Box&gt;&#10;    &lt;Text style={{ fontSize: 18, color: '#1E4FA8', fontWeight: 'bold', marginTop: 16 }}&gt;项目不是单轮问答，而是把学习过程变成可记录、可推进、可检查的闭环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矩形 98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571500" y="133350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选题背景与需求分析</a:t>
            </a:r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048875" y="228600"/>
            <a:ext cx="1571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01 · PROJECT DESIGN</a:t>
            </a:r>
            <a:endParaRPr/>
          </a:p>
        </p:txBody>
      </p:sp>
      <p:sp>
        <p:nvSpPr>
          <p:cNvPr id="102" name="矩形 101"/>
          <p:cNvSpPr/>
          <p:nvPr/>
        </p:nvSpPr>
        <p:spPr>
          <a:xfrm>
            <a:off x="609600" y="914400"/>
            <a:ext cx="11010900" cy="6096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" name="任意多边形: 形状 102"/>
          <p:cNvSpPr/>
          <p:nvPr/>
        </p:nvSpPr>
        <p:spPr>
          <a:xfrm>
            <a:off x="571500" y="914400"/>
            <a:ext cx="11049000" cy="609600"/>
          </a:xfrm>
          <a:custGeom>
            <a:avLst/>
            <a:gdLst/>
            <a:ahLst/>
            <a:cxnLst/>
            <a:rect l="0" t="0" r="0" b="0"/>
            <a:pathLst>
              <a:path w="1160" h="64">
                <a:moveTo>
                  <a:pt x="0" y="0"/>
                </a:moveTo>
                <a:lnTo>
                  <a:pt x="4" y="0"/>
                </a:lnTo>
                <a:lnTo>
                  <a:pt x="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1050" y="1009650"/>
            <a:ext cx="10668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核心问题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81050" y="1219200"/>
            <a:ext cx="10668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自学不是缺资料，而是缺少可持续执行的学习路径与反馈。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71500" y="1752600"/>
            <a:ext cx="4495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学习中的三个断点</a:t>
            </a:r>
            <a:endParaRPr/>
          </a:p>
        </p:txBody>
      </p:sp>
      <p:sp>
        <p:nvSpPr>
          <p:cNvPr id="107" name="任意多边形: 形状 106"/>
          <p:cNvSpPr/>
          <p:nvPr/>
        </p:nvSpPr>
        <p:spPr>
          <a:xfrm>
            <a:off x="571500" y="2200275"/>
            <a:ext cx="4495800" cy="895350"/>
          </a:xfrm>
          <a:custGeom>
            <a:avLst/>
            <a:gdLst/>
            <a:ahLst/>
            <a:cxnLst/>
            <a:rect l="0" t="0" r="0" b="0"/>
            <a:pathLst>
              <a:path w="472" h="94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571500" y="2324100"/>
            <a:ext cx="4495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顺序不清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571500" y="2628900"/>
            <a:ext cx="449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不知道先学什么、后学什么，容易在难点前反复停滞。</a:t>
            </a:r>
            <a:endParaRPr/>
          </a:p>
        </p:txBody>
      </p:sp>
      <p:sp>
        <p:nvSpPr>
          <p:cNvPr id="110" name="任意多边形: 形状 109"/>
          <p:cNvSpPr/>
          <p:nvPr/>
        </p:nvSpPr>
        <p:spPr>
          <a:xfrm>
            <a:off x="571500" y="3228975"/>
            <a:ext cx="4495800" cy="895350"/>
          </a:xfrm>
          <a:custGeom>
            <a:avLst/>
            <a:gdLst/>
            <a:ahLst/>
            <a:cxnLst/>
            <a:rect l="0" t="0" r="0" b="0"/>
            <a:pathLst>
              <a:path w="472" h="94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571500" y="3352800"/>
            <a:ext cx="4495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难度不匹配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571500" y="3657600"/>
            <a:ext cx="449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统一讲义和统一练习，无法适配不同基础与目标。</a:t>
            </a:r>
            <a:endParaRPr/>
          </a:p>
        </p:txBody>
      </p:sp>
      <p:sp>
        <p:nvSpPr>
          <p:cNvPr id="113" name="任意多边形: 形状 112"/>
          <p:cNvSpPr/>
          <p:nvPr/>
        </p:nvSpPr>
        <p:spPr>
          <a:xfrm>
            <a:off x="571500" y="4257675"/>
            <a:ext cx="4495800" cy="895350"/>
          </a:xfrm>
          <a:custGeom>
            <a:avLst/>
            <a:gdLst/>
            <a:ahLst/>
            <a:cxnLst/>
            <a:rect l="0" t="0" r="0" b="0"/>
            <a:pathLst>
              <a:path w="472" h="94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571500" y="4381500"/>
            <a:ext cx="4495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反馈不连续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71500" y="4686300"/>
            <a:ext cx="449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听懂了却没有及时练习，答错后也缺少针对性补讲。</a:t>
            </a:r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372100" y="1752600"/>
            <a:ext cx="6248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产品需求</a:t>
            </a:r>
            <a:endParaRPr/>
          </a:p>
        </p:txBody>
      </p:sp>
      <p:sp>
        <p:nvSpPr>
          <p:cNvPr id="117" name="矩形 116"/>
          <p:cNvSpPr/>
          <p:nvPr/>
        </p:nvSpPr>
        <p:spPr>
          <a:xfrm>
            <a:off x="5372100" y="2200275"/>
            <a:ext cx="6248400" cy="895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5543550" y="2314575"/>
            <a:ext cx="314325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010275" y="2314575"/>
            <a:ext cx="3771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生成个性化路径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010275" y="2600325"/>
            <a:ext cx="3771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依据基础、目标、时间与前测结果安排单元顺序。</a:t>
            </a:r>
            <a:endParaRPr/>
          </a:p>
        </p:txBody>
      </p:sp>
      <p:sp>
        <p:nvSpPr>
          <p:cNvPr id="121" name="矩形 120"/>
          <p:cNvSpPr/>
          <p:nvPr/>
        </p:nvSpPr>
        <p:spPr>
          <a:xfrm>
            <a:off x="5372100" y="3228975"/>
            <a:ext cx="6248400" cy="895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5543550" y="3343275"/>
            <a:ext cx="314325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010275" y="3343275"/>
            <a:ext cx="3771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形成教学闭环</a:t>
            </a:r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6010275" y="3629025"/>
            <a:ext cx="3771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诊断、规划、授课、练习、批改与补讲连续衔接。</a:t>
            </a:r>
            <a:endParaRPr/>
          </a:p>
        </p:txBody>
      </p:sp>
      <p:sp>
        <p:nvSpPr>
          <p:cNvPr id="125" name="矩形 124"/>
          <p:cNvSpPr/>
          <p:nvPr/>
        </p:nvSpPr>
        <p:spPr>
          <a:xfrm>
            <a:off x="5372100" y="4257675"/>
            <a:ext cx="6248400" cy="895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5543550" y="4371975"/>
            <a:ext cx="314325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010275" y="4371975"/>
            <a:ext cx="39433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提高过程可控性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010275" y="4657725"/>
            <a:ext cx="3943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知识图谱控制顺序，数学核验与教师审核约束结果。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571500" y="5715000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项目不是单轮问答，而是把学习过程变成可记录、可推进、可检查的闭环。</a:t>
            </a:r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总体方案：持续学习闭环&lt;/Text&gt;&#10;    &lt;Text style={{ fontSize: 16, color: '#DCE8FA' }}&gt;01 · PROJECT DESIGN&lt;/Text&gt;&#10;  &lt;/Box&gt;&#10;  &lt;Box style={{ width: 1160, height: 540, margin: '28px 60px 0', flexDirection: 'column' }}&gt;&#10;    &lt;Text style={{ fontSize: 20, color: '#4A5568' }}&gt;五个结构化教学角色由同一编排引擎衔接，学习结果决定下一步。&lt;/Text&gt;&#10;    &lt;Box style={{ marginTop: 26, width: 1160, flexDirection: 'row', gap: 12 }}&gt;&#10;      &lt;Box style={{ flex: 1, height: 170, borderTop: '4px solid #1E4FA8', background: '#F7F9FC', padding: '16px 14px' }}&gt;&#10;        &lt;Text style={{ fontSize: 15, color: '#3D7BD9', fontWeight: 'bold' }}&gt;01 · DIAGNOSTIC&lt;/Text&gt;&#10;        &lt;Text style={{ fontSize: 23, color: '#1A2230', fontWeight: 'bold', marginTop: 9 }}&gt;诊断&lt;/Text&gt;&#10;        &lt;Text style={{ fontSize: 17, color: '#4A5568', lineHeight: 1.5, marginTop: 8 }}&gt;澄清目标，生成前测；未测知识保持“未知”。&lt;/Text&gt;&#10;      &lt;/Box&gt;&#10;      &lt;Box style={{ flex: 1, height: 170, borderTop: '4px solid #3D7BD9', background: '#F7F9FC', padding: '16px 14px' }}&gt;&#10;        &lt;Text style={{ fontSize: 15, color: '#3D7BD9', fontWeight: 'bold' }}&gt;02 · PLANNING&lt;/Text&gt;&#10;        &lt;Text style={{ fontSize: 23, color: '#1A2230', fontWeight: 'bold', marginTop: 9 }}&gt;规划&lt;/Text&gt;&#10;        &lt;Text style={{ fontSize: 17, color: '#4A5568', lineHeight: 1.5, marginTop: 8 }}&gt;结合前测、时间与先修关系生成学习计划。&lt;/Text&gt;&#10;      &lt;/Box&gt;&#10;      &lt;Box style={{ flex: 1, height: 170, borderTop: '4px solid #3D7BD9', background: '#F7F9FC', padding: '16px 14px' }}&gt;&#10;        &lt;Text style={{ fontSize: 15, color: '#3D7BD9', fontWeight: 'bold' }}&gt;03 · TEACHING&lt;/Text&gt;&#10;        &lt;Text style={{ fontSize: 23, color: '#1A2230', fontWeight: 'bold', marginTop: 9 }}&gt;授课&lt;/Text&gt;&#10;        &lt;Text style={{ fontSize: 17, color: '#4A5568', lineHeight: 1.5, marginTop: 8 }}&gt;生成分层讲义、例题、易错点与参考来源。&lt;/Text&gt;&#10;      &lt;/Box&gt;&#10;      &lt;Box style={{ flex: 1, height: 170, borderTop: '4px solid #3D7BD9', background: '#F7F9FC', padding: '16px 14px' }}&gt;&#10;        &lt;Text style={{ fontSize: 15, color: '#3D7BD9', fontWeight: 'bold' }}&gt;04 · ASSIGNMENT&lt;/Text&gt;&#10;        &lt;Text style={{ fontSize: 23, color: '#1A2230', fontWeight: 'bold', marginTop: 9 }}&gt;练习&lt;/Text&gt;&#10;        &lt;Text style={{ fontSize: 17, color: '#4A5568', lineHeight: 1.5, marginTop: 8 }}&gt;按当前单元生成递进题目、量规与提示。&lt;/Text&gt;&#10;      &lt;/Box&gt;&#10;      &lt;Box style={{ flex: 1, height: 170, borderTop: '4px solid #1E4FA8', background: '#E8EFF8', padding: '16px 14px' }}&gt;&#10;        &lt;Text style={{ fontSize: 15, color: '#1E4FA8', fontWeight: 'bold' }}&gt;05 · GRADING&lt;/Text&gt;&#10;        &lt;Text style={{ fontSize: 23, color: '#1A2230', fontWeight: 'bold', marginTop: 9 }}&gt;批改&lt;/Text&gt;&#10;        &lt;Text style={{ fontSize: 17, color: '#4A5568', lineHeight: 1.5, marginTop: 8 }}&gt;逐题评分、定位错因，决定继续或补讲。&lt;/Text&gt;&#10;      &lt;/Box&gt;&#10;    &lt;/Box&gt;&#10;    &lt;Box style={{ marginTop: 28, width: 1160, height: 58, background: '#E8EFF8', flexDirection: 'row', alignItems: 'center', justifyContent: 'center' }}&gt;&#10;      &lt;Text style={{ fontSize: 20, color: '#1E4FA8', fontWeight: 'bold' }}&gt;未达掌握门槛 → 补讲与新练习 → 再次提交 → 更新掌握度&lt;/Text&gt;&#10;    &lt;/Box&gt;&#10;    &lt;Box style={{ marginTop: 24, width: 1160, flexDirection: 'row', gap: 24 }}&gt;&#10;      &lt;Box style={{ flex: 1 }}&gt;&#10;        &lt;Text style={{ fontSize: 19, color: '#1E4FA8', fontWeight: 'bold' }}&gt;知识先修图&lt;/Text&gt;&#10;        &lt;Text style={{ fontSize: 17, color: '#4A5568', marginTop: 7, lineHeight: 1.5 }}&gt;决定单元顺序与可推进条件。&lt;/Text&gt;&#10;      &lt;/Box&gt;&#10;      &lt;Box style={{ flex: 1 }}&gt;&#10;        &lt;Text style={{ fontSize: 19, color: '#1E4FA8', fontWeight: 'bold' }}&gt;SymPy 数学核验&lt;/Text&gt;&#10;        &lt;Text style={{ fontSize: 17, color: '#4A5568', marginTop: 7, lineHeight: 1.5 }}&gt;辅助核对可解析表达式。&lt;/Text&gt;&#10;      &lt;/Box&gt;&#10;      &lt;Box style={{ flex: 1 }}&gt;&#10;        &lt;Text style={{ fontSize: 19, color: '#1E4FA8', fontWeight: 'bold' }}&gt;AI 审核 + 教师通道&lt;/Text&gt;&#10;        &lt;Text style={{ fontSize: 17, color: '#4A5568', marginTop: 7, lineHeight: 1.5 }}&gt;不确定结果可复核、确认或改分。&lt;/Text&gt;&#10;      &lt;/Box&gt;&#10;    &lt;/Box&gt;&#10;    &lt;Text style={{ fontSize: 18, color: '#1E4FA8', fontWeight: 'bold', marginTop: 18 }}&gt;设计重点：让“下一步学什么”由学习证据和规则共同决定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" name="矩形 133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571500" y="133350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总体方案：持续学习闭环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0048875" y="228600"/>
            <a:ext cx="1571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01 · PROJECT DESIGN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五个结构化教学角色由同一编排引擎衔接，学习结果决定下一步。</a:t>
            </a:r>
            <a:endParaRPr/>
          </a:p>
        </p:txBody>
      </p:sp>
      <p:sp>
        <p:nvSpPr>
          <p:cNvPr id="138" name="矩形 137"/>
          <p:cNvSpPr/>
          <p:nvPr/>
        </p:nvSpPr>
        <p:spPr>
          <a:xfrm>
            <a:off x="571500" y="1428750"/>
            <a:ext cx="2114550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任意多边形: 形状 138"/>
          <p:cNvSpPr/>
          <p:nvPr/>
        </p:nvSpPr>
        <p:spPr>
          <a:xfrm>
            <a:off x="571500" y="1390650"/>
            <a:ext cx="2114550" cy="1619250"/>
          </a:xfrm>
          <a:custGeom>
            <a:avLst/>
            <a:gdLst/>
            <a:ahLst/>
            <a:cxnLst/>
            <a:rect l="0" t="0" r="0" b="0"/>
            <a:pathLst>
              <a:path w="222" h="170">
                <a:moveTo>
                  <a:pt x="0" y="0"/>
                </a:moveTo>
                <a:lnTo>
                  <a:pt x="222" y="0"/>
                </a:lnTo>
                <a:lnTo>
                  <a:pt x="222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704850" y="1581150"/>
            <a:ext cx="1847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01 · DIAGNOSTIC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704850" y="1838325"/>
            <a:ext cx="1847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诊断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04850" y="2181225"/>
            <a:ext cx="18478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澄清目标，生成前测；未测知识保持“未知”。</a:t>
            </a:r>
            <a:endParaRPr/>
          </a:p>
        </p:txBody>
      </p:sp>
      <p:sp>
        <p:nvSpPr>
          <p:cNvPr id="143" name="矩形 142"/>
          <p:cNvSpPr/>
          <p:nvPr/>
        </p:nvSpPr>
        <p:spPr>
          <a:xfrm>
            <a:off x="2800350" y="1428750"/>
            <a:ext cx="2124075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任意多边形: 形状 143"/>
          <p:cNvSpPr/>
          <p:nvPr/>
        </p:nvSpPr>
        <p:spPr>
          <a:xfrm>
            <a:off x="2800350" y="1390650"/>
            <a:ext cx="2124075" cy="1619250"/>
          </a:xfrm>
          <a:custGeom>
            <a:avLst/>
            <a:gdLst/>
            <a:ahLst/>
            <a:cxnLst/>
            <a:rect l="0" t="0" r="0" b="0"/>
            <a:pathLst>
              <a:path w="223" h="170">
                <a:moveTo>
                  <a:pt x="0" y="0"/>
                </a:moveTo>
                <a:lnTo>
                  <a:pt x="223" y="0"/>
                </a:lnTo>
                <a:lnTo>
                  <a:pt x="223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2933700" y="1581150"/>
            <a:ext cx="1857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02 · PLANNING</a:t>
            </a:r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2933700" y="1838325"/>
            <a:ext cx="18573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规划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2933700" y="2181225"/>
            <a:ext cx="1857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结合前测、时间与先修关系生成学习计划。</a:t>
            </a:r>
            <a:endParaRPr/>
          </a:p>
        </p:txBody>
      </p:sp>
      <p:sp>
        <p:nvSpPr>
          <p:cNvPr id="148" name="矩形 147"/>
          <p:cNvSpPr/>
          <p:nvPr/>
        </p:nvSpPr>
        <p:spPr>
          <a:xfrm>
            <a:off x="5038725" y="1428750"/>
            <a:ext cx="2114550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" name="任意多边形: 形状 148"/>
          <p:cNvSpPr/>
          <p:nvPr/>
        </p:nvSpPr>
        <p:spPr>
          <a:xfrm>
            <a:off x="5038725" y="1390650"/>
            <a:ext cx="2114550" cy="1619250"/>
          </a:xfrm>
          <a:custGeom>
            <a:avLst/>
            <a:gdLst/>
            <a:ahLst/>
            <a:cxnLst/>
            <a:rect l="0" t="0" r="0" b="0"/>
            <a:pathLst>
              <a:path w="222" h="170">
                <a:moveTo>
                  <a:pt x="0" y="0"/>
                </a:moveTo>
                <a:lnTo>
                  <a:pt x="222" y="0"/>
                </a:lnTo>
                <a:lnTo>
                  <a:pt x="222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172075" y="1581150"/>
            <a:ext cx="1847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03 · TEACHING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172075" y="1838325"/>
            <a:ext cx="1847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授课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5172075" y="2181225"/>
            <a:ext cx="18478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生成分层讲义、例题、易错点与参考来源。</a:t>
            </a:r>
            <a:endParaRPr/>
          </a:p>
        </p:txBody>
      </p:sp>
      <p:sp>
        <p:nvSpPr>
          <p:cNvPr id="153" name="矩形 152"/>
          <p:cNvSpPr/>
          <p:nvPr/>
        </p:nvSpPr>
        <p:spPr>
          <a:xfrm>
            <a:off x="7267575" y="1428750"/>
            <a:ext cx="2124075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任意多边形: 形状 153"/>
          <p:cNvSpPr/>
          <p:nvPr/>
        </p:nvSpPr>
        <p:spPr>
          <a:xfrm>
            <a:off x="7267575" y="1390650"/>
            <a:ext cx="2124075" cy="1619250"/>
          </a:xfrm>
          <a:custGeom>
            <a:avLst/>
            <a:gdLst/>
            <a:ahLst/>
            <a:cxnLst/>
            <a:rect l="0" t="0" r="0" b="0"/>
            <a:pathLst>
              <a:path w="223" h="170">
                <a:moveTo>
                  <a:pt x="0" y="0"/>
                </a:moveTo>
                <a:lnTo>
                  <a:pt x="223" y="0"/>
                </a:lnTo>
                <a:lnTo>
                  <a:pt x="223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400925" y="1581150"/>
            <a:ext cx="1857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04 · ASSIGNMENT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7400925" y="1838325"/>
            <a:ext cx="18573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练习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400925" y="2181225"/>
            <a:ext cx="1857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按当前单元生成递进题目、量规与提示。</a:t>
            </a:r>
            <a:endParaRPr/>
          </a:p>
        </p:txBody>
      </p:sp>
      <p:sp>
        <p:nvSpPr>
          <p:cNvPr id="158" name="矩形 157"/>
          <p:cNvSpPr/>
          <p:nvPr/>
        </p:nvSpPr>
        <p:spPr>
          <a:xfrm>
            <a:off x="9505950" y="1428750"/>
            <a:ext cx="2114550" cy="15811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任意多边形: 形状 158"/>
          <p:cNvSpPr/>
          <p:nvPr/>
        </p:nvSpPr>
        <p:spPr>
          <a:xfrm>
            <a:off x="9505950" y="1390650"/>
            <a:ext cx="2114550" cy="1619250"/>
          </a:xfrm>
          <a:custGeom>
            <a:avLst/>
            <a:gdLst/>
            <a:ahLst/>
            <a:cxnLst/>
            <a:rect l="0" t="0" r="0" b="0"/>
            <a:pathLst>
              <a:path w="222" h="170">
                <a:moveTo>
                  <a:pt x="0" y="0"/>
                </a:moveTo>
                <a:lnTo>
                  <a:pt x="222" y="0"/>
                </a:lnTo>
                <a:lnTo>
                  <a:pt x="222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9639300" y="1581150"/>
            <a:ext cx="1847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05 · GRADING</a:t>
            </a:r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9639300" y="1838325"/>
            <a:ext cx="1847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批改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9639300" y="2181225"/>
            <a:ext cx="18478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逐题评分、定位错因，决定继续或补讲。</a:t>
            </a:r>
            <a:endParaRPr/>
          </a:p>
        </p:txBody>
      </p:sp>
      <p:sp>
        <p:nvSpPr>
          <p:cNvPr id="163" name="矩形 162"/>
          <p:cNvSpPr/>
          <p:nvPr/>
        </p:nvSpPr>
        <p:spPr>
          <a:xfrm>
            <a:off x="571500" y="3276600"/>
            <a:ext cx="11049000" cy="552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3638550" y="3438525"/>
            <a:ext cx="4914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未达掌握门槛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补讲与新练习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再次提交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更新掌握度</a:t>
            </a:r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571500" y="4057650"/>
            <a:ext cx="3533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知识先修图</a:t>
            </a:r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71500" y="4343400"/>
            <a:ext cx="35337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决定单元顺序与可推进条件。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333875" y="4057650"/>
            <a:ext cx="3524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SymPy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数学核验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4333875" y="4343400"/>
            <a:ext cx="35242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辅助核对可解析表达式。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086725" y="4057650"/>
            <a:ext cx="3533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审核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教师通道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086725" y="4343400"/>
            <a:ext cx="35337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不确定结果可复核、确认或改分。</a:t>
            </a:r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71500" y="4810125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设计重点：让“下一步学什么”由学习证据和规则共同决定。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技术路线与实施过程&lt;/Text&gt;&#10;    &lt;Text style={{ fontSize: 16, color: '#DCE8FA' }}&gt;01 · PROJECT DESIGN&lt;/Text&gt;&#10;  &lt;/Box&gt;&#10;  &lt;Box style={{ width: 1160, height: 540, margin: '28px 60px 0', flexDirection: 'column' }}&gt;&#10;    &lt;Text style={{ fontSize: 20, color: '#4A5568' }}&gt;前后端分离、本机数据存储、单一模型供应商，优先保证完整流程和可交付性。&lt;/Text&gt;&#10;    &lt;Box style={{ marginTop: 24, flexDirection: 'row', gap: 36, height: 410 }}&gt;&#10;      &lt;Box style={{ width: 420, flexDirection: 'column' }}&gt;&#10;        &lt;Text style={{ fontSize: 24, color: '#1A2230', fontWeight: 'bold' }}&gt;当前技术栈&lt;/Text&gt;&#10;        &lt;Box style={{ marginTop: 14, width: 420, borderTop: '1px solid #D6DCE5', paddingTop: 10 }}&gt;&#10;          &lt;Text style={{ fontSize: 18, color: '#1E4FA8', fontWeight: 'bold' }}&gt;前端&lt;/Text&gt;&#10;          &lt;Text style={{ fontSize: 17, color: '#4A5568', marginTop: 3 }}&gt;React · TypeScript · Vite · KaTeX · Plotly&lt;/Text&gt;&#10;        &lt;/Box&gt;&#10;        &lt;Box style={{ marginTop: 14, width: 420, borderTop: '1px solid #E5E7EB', paddingTop: 10 }}&gt;&#10;          &lt;Text style={{ fontSize: 18, color: '#1E4FA8', fontWeight: 'bold' }}&gt;后端&lt;/Text&gt;&#10;          &lt;Text style={{ fontSize: 17, color: '#4A5568', marginTop: 3 }}&gt;FastAPI · Pydantic · REST · SSE&lt;/Text&gt;&#10;        &lt;/Box&gt;&#10;        &lt;Box style={{ marginTop: 14, width: 420, borderTop: '1px solid #E5E7EB', paddingTop: 10 }}&gt;&#10;          &lt;Text style={{ fontSize: 18, color: '#1E4FA8', fontWeight: 'bold' }}&gt;教学与数据&lt;/Text&gt;&#10;          &lt;Text style={{ fontSize: 17, color: '#4A5568', marginTop: 3 }}&gt;五角色状态机 · SQLite · SymPy&lt;/Text&gt;&#10;        &lt;/Box&gt;&#10;        &lt;Box style={{ marginTop: 14, width: 420, borderTop: '1px solid #E5E7EB', paddingTop: 10 }}&gt;&#10;          &lt;Text style={{ fontSize: 18, color: '#1E4FA8', fontWeight: 'bold' }}&gt;模型服务&lt;/Text&gt;&#10;          &lt;Text style={{ fontSize: 17, color: '#4A5568', marginTop: 3 }}&gt;DeepSeek 官方 API · 结构化 JSON 输出&lt;/Text&gt;&#10;        &lt;/Box&gt;&#10;        &lt;Box style={{ marginTop: 14, width: 420, borderTop: '1px solid #E5E7EB', paddingTop: 10 }}&gt;&#10;          &lt;Text style={{ fontSize: 18, color: '#1E4FA8', fontWeight: 'bold' }}&gt;桌面交付&lt;/Text&gt;&#10;          &lt;Text style={{ fontSize: 17, color: '#4A5568', marginTop: 3 }}&gt;PyInstaller · 本机 127.0.0.1:8877&lt;/Text&gt;&#10;        &lt;/Box&gt;&#10;      &lt;/Box&gt;&#10;      &lt;Box style={{ width: 704, flexDirection: 'column' }}&gt;&#10;        &lt;Text style={{ fontSize: 24, color: '#1A2230', fontWeight: 'bold' }}&gt;四个实施阶段&lt;/Text&gt;&#10;        &lt;Box style={{ marginTop: 14, width: 704, flexDirection: 'row', gap: 14 }}&gt;&#10;          &lt;Text style={{ width: 58, fontSize: 22, color: '#FFFFFF', fontWeight: 'bold', background: '#1E4FA8', textAlign: 'center', padding: '10px 0' }}&gt;01&lt;/Text&gt;&#10;          &lt;Box style={{ flex: 1, borderBottom: '1px solid #D6DCE5', paddingBottom: 10 }}&gt;&#10;            &lt;Text style={{ fontSize: 20, color: '#1A2230', fontWeight: 'bold' }}&gt;极限路径与五角色闭环&lt;/Text&gt;&#10;            &lt;Text style={{ fontSize: 17, color: '#4A5568', marginTop: 4 }}&gt;跑通前测、规划、授课、练习与批改。&lt;/Text&gt;&#10;          &lt;/Box&gt;&#10;        &lt;/Box&gt;&#10;        &lt;Box style={{ marginTop: 15, width: 704, flexDirection: 'row', gap: 14 }}&gt;&#10;          &lt;Text style={{ width: 58, fontSize: 22, color: '#FFFFFF', fontWeight: 'bold', background: '#3D7BD9', textAlign: 'center', padding: '10px 0' }}&gt;02&lt;/Text&gt;&#10;          &lt;Box style={{ flex: 1, borderBottom: '1px solid #D6DCE5', paddingBottom: 10 }}&gt;&#10;            &lt;Text style={{ fontSize: 20, color: '#1A2230', fontWeight: 'bold' }}&gt;十二单元与任意主题学习&lt;/Text&gt;&#10;            &lt;Text style={{ fontSize: 17, color: '#4A5568', marginTop: 4 }}&gt;形成微积分验收课程和通用建课流程。&lt;/Text&gt;&#10;          &lt;/Box&gt;&#10;        &lt;/Box&gt;&#10;        &lt;Box style={{ marginTop: 15, width: 704, flexDirection: 'row', gap: 14 }}&gt;&#10;          &lt;Text style={{ width: 58, fontSize: 22, color: '#FFFFFF', fontWeight: 'bold', background: '#3D7BD9', textAlign: 'center', padding: '10px 0' }}&gt;03&lt;/Text&gt;&#10;          &lt;Box style={{ flex: 1, borderBottom: '1px solid #D6DCE5', paddingBottom: 10 }}&gt;&#10;            &lt;Text style={{ fontSize: 20, color: '#1A2230', fontWeight: 'bold' }}&gt;审核、错题与学习记录&lt;/Text&gt;&#10;            &lt;Text style={{ fontSize: 17, color: '#4A5568', marginTop: 4 }}&gt;加入申诉、教师审核、复习和数据导出。&lt;/Text&gt;&#10;          &lt;/Box&gt;&#10;        &lt;/Box&gt;&#10;        &lt;Box style={{ marginTop: 15, width: 704, flexDirection: 'row', gap: 14 }}&gt;&#10;          &lt;Text style={{ width: 58, fontSize: 22, color: '#FFFFFF', fontWeight: 'bold', background: '#1E4FA8', textAlign: 'center', padding: '10px 0' }}&gt;04&lt;/Text&gt;&#10;          &lt;Box style={{ flex: 1, borderBottom: '1px solid #D6DCE5', paddingBottom: 10 }}&gt;&#10;            &lt;Text style={{ fontSize: 20, color: '#1A2230', fontWeight: 'bold' }}&gt;多账号与桌面交付&lt;/Text&gt;&#10;            &lt;Text style={{ fontSize: 17, color: '#4A5568', marginTop: 4 }}&gt;完成隔离、备份、功能检查与免安装包。&lt;/Text&gt;&#10;          &lt;/Box&gt;&#10;        &lt;/Box&gt;&#10;        &lt;Box style={{ marginTop: 22, width: 704, background: '#E8EFF8', padding: '14px 18px' }}&gt;&#10;          &lt;Text style={{ fontSize: 18, color: '#1E4FA8', fontWeight: 'bold' }}&gt;1.3.1：修复非微积分主题规划失败，保留前测结果并从规划步骤续跑。&lt;/Text&gt;&#10;        &lt;/Box&gt;&#10;      &lt;/Box&gt;&#10;    &lt;/Box&gt;&#10;    &lt;Text style={{ fontSize: 17, color: '#4A5568', marginTop: 18 }}&gt;取舍：本机原型优先验证教学闭环与交付完整性，不以多供应商和高并发部署为目标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矩形 175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571500" y="133350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技术路线与实施过程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0048875" y="228600"/>
            <a:ext cx="1571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01 · PROJECT DESIGN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前后端分离、本机数据存储、单一模型供应商，优先保证完整流程和可交付性。</a:t>
            </a:r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571500" y="1371600"/>
            <a:ext cx="40005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当前技术栈</a:t>
            </a:r>
            <a:endParaRPr/>
          </a:p>
        </p:txBody>
      </p:sp>
      <p:sp>
        <p:nvSpPr>
          <p:cNvPr id="181" name="任意多边形: 形状 180"/>
          <p:cNvSpPr/>
          <p:nvPr/>
        </p:nvSpPr>
        <p:spPr>
          <a:xfrm>
            <a:off x="571500" y="1781175"/>
            <a:ext cx="4000500" cy="552450"/>
          </a:xfrm>
          <a:custGeom>
            <a:avLst/>
            <a:gdLst/>
            <a:ahLst/>
            <a:cxnLst/>
            <a:rect l="0" t="0" r="0" b="0"/>
            <a:pathLst>
              <a:path w="420" h="58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71500" y="1885950"/>
            <a:ext cx="4000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71500" y="2124075"/>
            <a:ext cx="400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React · TypeScript · Vite · KaTeX · Plotly</a:t>
            </a:r>
            <a:endParaRPr/>
          </a:p>
        </p:txBody>
      </p:sp>
      <p:sp>
        <p:nvSpPr>
          <p:cNvPr id="184" name="任意多边形: 形状 183"/>
          <p:cNvSpPr/>
          <p:nvPr/>
        </p:nvSpPr>
        <p:spPr>
          <a:xfrm>
            <a:off x="571500" y="2457450"/>
            <a:ext cx="4000500" cy="552450"/>
          </a:xfrm>
          <a:custGeom>
            <a:avLst/>
            <a:gdLst/>
            <a:ahLst/>
            <a:cxnLst/>
            <a:rect l="0" t="0" r="0" b="0"/>
            <a:pathLst>
              <a:path w="420" h="58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71500" y="2562225"/>
            <a:ext cx="4000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后端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571500" y="2800350"/>
            <a:ext cx="400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FastAPI · Pydantic · REST · SSE</a:t>
            </a:r>
            <a:endParaRPr/>
          </a:p>
        </p:txBody>
      </p:sp>
      <p:sp>
        <p:nvSpPr>
          <p:cNvPr id="187" name="任意多边形: 形状 186"/>
          <p:cNvSpPr/>
          <p:nvPr/>
        </p:nvSpPr>
        <p:spPr>
          <a:xfrm>
            <a:off x="571500" y="3133725"/>
            <a:ext cx="4000500" cy="552450"/>
          </a:xfrm>
          <a:custGeom>
            <a:avLst/>
            <a:gdLst/>
            <a:ahLst/>
            <a:cxnLst/>
            <a:rect l="0" t="0" r="0" b="0"/>
            <a:pathLst>
              <a:path w="420" h="58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571500" y="3238500"/>
            <a:ext cx="4000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教学与数据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71500" y="3476625"/>
            <a:ext cx="400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五角色状态机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SQLite · SymPy</a:t>
            </a:r>
            <a:endParaRPr/>
          </a:p>
        </p:txBody>
      </p:sp>
      <p:sp>
        <p:nvSpPr>
          <p:cNvPr id="190" name="任意多边形: 形状 189"/>
          <p:cNvSpPr/>
          <p:nvPr/>
        </p:nvSpPr>
        <p:spPr>
          <a:xfrm>
            <a:off x="571500" y="3810000"/>
            <a:ext cx="4000500" cy="552450"/>
          </a:xfrm>
          <a:custGeom>
            <a:avLst/>
            <a:gdLst/>
            <a:ahLst/>
            <a:cxnLst/>
            <a:rect l="0" t="0" r="0" b="0"/>
            <a:pathLst>
              <a:path w="420" h="58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571500" y="3914775"/>
            <a:ext cx="4000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模型服务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571500" y="4152900"/>
            <a:ext cx="400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DeepSeek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官方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API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结构化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JSON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193" name="任意多边形: 形状 192"/>
          <p:cNvSpPr/>
          <p:nvPr/>
        </p:nvSpPr>
        <p:spPr>
          <a:xfrm>
            <a:off x="571500" y="4486275"/>
            <a:ext cx="4000500" cy="552450"/>
          </a:xfrm>
          <a:custGeom>
            <a:avLst/>
            <a:gdLst/>
            <a:ahLst/>
            <a:cxnLst/>
            <a:rect l="0" t="0" r="0" b="0"/>
            <a:pathLst>
              <a:path w="420" h="58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571500" y="4591050"/>
            <a:ext cx="4000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桌面交付</a:t>
            </a:r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571500" y="4829175"/>
            <a:ext cx="400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PyInstaller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本机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127.0.0.1:8877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4914900" y="1371600"/>
            <a:ext cx="6705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四个实施阶段</a:t>
            </a:r>
            <a:endParaRPr/>
          </a:p>
        </p:txBody>
      </p:sp>
      <p:sp>
        <p:nvSpPr>
          <p:cNvPr id="197" name="矩形 196"/>
          <p:cNvSpPr/>
          <p:nvPr/>
        </p:nvSpPr>
        <p:spPr>
          <a:xfrm>
            <a:off x="4914900" y="1781175"/>
            <a:ext cx="552450" cy="571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914900" y="1781175"/>
            <a:ext cx="552450" cy="447675"/>
          </a:xfrm>
          <a:prstGeom prst="rect">
            <a:avLst/>
          </a:prstGeom>
        </p:spPr>
        <p:txBody>
          <a:bodyPr wrap="none" lIns="0" tIns="71438" rIns="0" bIns="71438"/>
          <a:lstStyle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9" name="任意多边形: 形状 198"/>
          <p:cNvSpPr/>
          <p:nvPr/>
        </p:nvSpPr>
        <p:spPr>
          <a:xfrm>
            <a:off x="5600700" y="1781175"/>
            <a:ext cx="6019800" cy="581025"/>
          </a:xfrm>
          <a:custGeom>
            <a:avLst/>
            <a:gdLst/>
            <a:ahLst/>
            <a:cxnLst/>
            <a:rect l="0" t="0" r="0" b="0"/>
            <a:pathLst>
              <a:path w="632" h="61">
                <a:moveTo>
                  <a:pt x="0" y="60"/>
                </a:moveTo>
                <a:lnTo>
                  <a:pt x="632" y="60"/>
                </a:lnTo>
                <a:lnTo>
                  <a:pt x="632" y="61"/>
                </a:lnTo>
                <a:lnTo>
                  <a:pt x="0" y="6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5600700" y="1781175"/>
            <a:ext cx="6019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极限路径与五角色闭环</a:t>
            </a:r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5600700" y="2047875"/>
            <a:ext cx="6019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跑通前测、规划、授课、练习与批改。</a:t>
            </a:r>
            <a:endParaRPr/>
          </a:p>
        </p:txBody>
      </p:sp>
      <p:sp>
        <p:nvSpPr>
          <p:cNvPr id="202" name="矩形 201"/>
          <p:cNvSpPr/>
          <p:nvPr/>
        </p:nvSpPr>
        <p:spPr>
          <a:xfrm>
            <a:off x="4914900" y="2495550"/>
            <a:ext cx="552450" cy="5715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914900" y="2495550"/>
            <a:ext cx="552450" cy="447675"/>
          </a:xfrm>
          <a:prstGeom prst="rect">
            <a:avLst/>
          </a:prstGeom>
        </p:spPr>
        <p:txBody>
          <a:bodyPr wrap="none" lIns="0" tIns="71438" rIns="0" bIns="71438"/>
          <a:lstStyle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highlight>
                  <a:srgbClr val="3D7BD9"/>
                </a:highlight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4" name="任意多边形: 形状 203"/>
          <p:cNvSpPr/>
          <p:nvPr/>
        </p:nvSpPr>
        <p:spPr>
          <a:xfrm>
            <a:off x="5600700" y="2495550"/>
            <a:ext cx="6019800" cy="581025"/>
          </a:xfrm>
          <a:custGeom>
            <a:avLst/>
            <a:gdLst/>
            <a:ahLst/>
            <a:cxnLst/>
            <a:rect l="0" t="0" r="0" b="0"/>
            <a:pathLst>
              <a:path w="632" h="61">
                <a:moveTo>
                  <a:pt x="0" y="60"/>
                </a:moveTo>
                <a:lnTo>
                  <a:pt x="632" y="60"/>
                </a:lnTo>
                <a:lnTo>
                  <a:pt x="632" y="61"/>
                </a:lnTo>
                <a:lnTo>
                  <a:pt x="0" y="6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600700" y="2495550"/>
            <a:ext cx="6019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十二单元与任意主题学习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5600700" y="2762250"/>
            <a:ext cx="6019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形成微积分验收课程和通用建课流程。</a:t>
            </a:r>
            <a:endParaRPr/>
          </a:p>
        </p:txBody>
      </p:sp>
      <p:sp>
        <p:nvSpPr>
          <p:cNvPr id="207" name="矩形 206"/>
          <p:cNvSpPr/>
          <p:nvPr/>
        </p:nvSpPr>
        <p:spPr>
          <a:xfrm>
            <a:off x="4914900" y="3209925"/>
            <a:ext cx="552450" cy="5715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4914900" y="3209925"/>
            <a:ext cx="552450" cy="447675"/>
          </a:xfrm>
          <a:prstGeom prst="rect">
            <a:avLst/>
          </a:prstGeom>
        </p:spPr>
        <p:txBody>
          <a:bodyPr wrap="none" lIns="0" tIns="71438" rIns="0" bIns="71438"/>
          <a:lstStyle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highlight>
                  <a:srgbClr val="3D7BD9"/>
                </a:highlight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9" name="任意多边形: 形状 208"/>
          <p:cNvSpPr/>
          <p:nvPr/>
        </p:nvSpPr>
        <p:spPr>
          <a:xfrm>
            <a:off x="5600700" y="3209925"/>
            <a:ext cx="6019800" cy="581025"/>
          </a:xfrm>
          <a:custGeom>
            <a:avLst/>
            <a:gdLst/>
            <a:ahLst/>
            <a:cxnLst/>
            <a:rect l="0" t="0" r="0" b="0"/>
            <a:pathLst>
              <a:path w="632" h="61">
                <a:moveTo>
                  <a:pt x="0" y="60"/>
                </a:moveTo>
                <a:lnTo>
                  <a:pt x="632" y="60"/>
                </a:lnTo>
                <a:lnTo>
                  <a:pt x="632" y="61"/>
                </a:lnTo>
                <a:lnTo>
                  <a:pt x="0" y="6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5600700" y="3209925"/>
            <a:ext cx="6019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审核、错题与学习记录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5600700" y="3476625"/>
            <a:ext cx="6019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加入申诉、教师审核、复习和数据导出。</a:t>
            </a:r>
            <a:endParaRPr/>
          </a:p>
        </p:txBody>
      </p:sp>
      <p:sp>
        <p:nvSpPr>
          <p:cNvPr id="212" name="矩形 211"/>
          <p:cNvSpPr/>
          <p:nvPr/>
        </p:nvSpPr>
        <p:spPr>
          <a:xfrm>
            <a:off x="4914900" y="3924300"/>
            <a:ext cx="552450" cy="571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4914900" y="3924300"/>
            <a:ext cx="552450" cy="447675"/>
          </a:xfrm>
          <a:prstGeom prst="rect">
            <a:avLst/>
          </a:prstGeom>
        </p:spPr>
        <p:txBody>
          <a:bodyPr wrap="none" lIns="0" tIns="71438" rIns="0" bIns="71438"/>
          <a:lstStyle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4" name="任意多边形: 形状 213"/>
          <p:cNvSpPr/>
          <p:nvPr/>
        </p:nvSpPr>
        <p:spPr>
          <a:xfrm>
            <a:off x="5600700" y="3924300"/>
            <a:ext cx="6019800" cy="581025"/>
          </a:xfrm>
          <a:custGeom>
            <a:avLst/>
            <a:gdLst/>
            <a:ahLst/>
            <a:cxnLst/>
            <a:rect l="0" t="0" r="0" b="0"/>
            <a:pathLst>
              <a:path w="632" h="61">
                <a:moveTo>
                  <a:pt x="0" y="60"/>
                </a:moveTo>
                <a:lnTo>
                  <a:pt x="632" y="60"/>
                </a:lnTo>
                <a:lnTo>
                  <a:pt x="632" y="61"/>
                </a:lnTo>
                <a:lnTo>
                  <a:pt x="0" y="6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600700" y="3924300"/>
            <a:ext cx="6019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多账号与桌面交付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5600700" y="4191000"/>
            <a:ext cx="6019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完成隔离、备份、功能检查与免安装包。</a:t>
            </a:r>
            <a:endParaRPr/>
          </a:p>
        </p:txBody>
      </p:sp>
      <p:sp>
        <p:nvSpPr>
          <p:cNvPr id="217" name="矩形 216"/>
          <p:cNvSpPr/>
          <p:nvPr/>
        </p:nvSpPr>
        <p:spPr>
          <a:xfrm>
            <a:off x="4914900" y="4705350"/>
            <a:ext cx="6705600" cy="476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5086350" y="4838700"/>
            <a:ext cx="6362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1.3.1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：修复非微积分主题规划失败，保留前测结果并从规划步骤续跑。</a:t>
            </a:r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571500" y="5448300"/>
            <a:ext cx="11049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取舍：本机原型优先验证教学闭环与交付完整性，不以多供应商和高并发部署为目标。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主要内容与成果&lt;/Text&gt;&#10;    &lt;Text style={{ fontSize: 16, color: '#DCE8FA' }}&gt;01 · PROJECT DESIGN&lt;/Text&gt;&#10;  &lt;/Box&gt;&#10;  &lt;Box style={{ width: 1160, height: 540, margin: '28px 60px 0', flexDirection: 'column' }}&gt;&#10;    &lt;Text style={{ fontSize: 20, color: '#4A5568' }}&gt;系统已形成“建课—学习—反馈—复核”的完整使用流程，并具备可交付的桌面版本。&lt;/Text&gt;&#10;    &lt;Box style={{ marginTop: 20, width: 1160, flexDirection: 'row' }}&gt;&#10;      &lt;Box style={{ width: 386, borderLeft: '4px solid #1E4FA8', paddingLeft: 16 }}&gt;&#10;        &lt;Box style={{ flexDirection: 'row', alignItems: 'flex-end' }}&gt;&#10;          &lt;Text style={{ fontSize: 64, color: '#1E4FA8', fontWeight: 'bold', lineHeight: 1 }}&gt;12&lt;/Text&gt;&#10;          &lt;Text style={{ fontSize: 18, color: '#4A5568', marginLeft: 8 }}&gt;个单元&lt;/Text&gt;&#10;        &lt;/Box&gt;&#10;        &lt;Text style={{ fontSize: 18, color: '#1A2230', fontWeight: 'bold', marginTop: 8 }}&gt;微积分验收课程&lt;/Text&gt;&#10;        &lt;Text style={{ fontSize: 16, color: '#4A5568', marginTop: 4 }}&gt;从函数、极限到级数与泰勒近似。&lt;/Text&gt;&#10;      &lt;/Box&gt;&#10;      &lt;Box style={{ width: 386, borderLeft: '4px solid #3D7BD9', paddingLeft: 16 }}&gt;&#10;        &lt;Box style={{ flexDirection: 'row', alignItems: 'flex-end' }}&gt;&#10;          &lt;Text style={{ fontSize: 64, color: '#1E4FA8', fontWeight: 'bold', lineHeight: 1 }}&gt;36&lt;/Text&gt;&#10;          &lt;Text style={{ fontSize: 18, color: '#4A5568', marginLeft: 8 }}&gt;道题&lt;/Text&gt;&#10;        &lt;/Box&gt;&#10;        &lt;Text style={{ fontSize: 18, color: '#1A2230', fontWeight: 'bold', marginTop: 8 }}&gt;基准题与量规&lt;/Text&gt;&#10;        &lt;Text style={{ fontSize: 16, color: '#4A5568', marginTop: 4 }}&gt;覆盖十二个单元，支持前测、后测与延迟测。&lt;/Text&gt;&#10;      &lt;/Box&gt;&#10;      &lt;Box style={{ width: 388, borderLeft: '4px solid #1E4FA8', paddingLeft: 16 }}&gt;&#10;        &lt;Box style={{ flexDirection: 'row', alignItems: 'flex-end' }}&gt;&#10;          &lt;Text style={{ fontSize: 64, color: '#1E4FA8', fontWeight: 'bold', lineHeight: 1 }}&gt;14&lt;/Text&gt;&#10;          &lt;Text style={{ fontSize: 18, color: '#4A5568', marginLeft: 8 }}&gt;项检查&lt;/Text&gt;&#10;        &lt;/Box&gt;&#10;        &lt;Text style={{ fontSize: 18, color: '#1A2230', fontWeight: 'bold', marginTop: 8 }}&gt;核心功能检查通过&lt;/Text&gt;&#10;        &lt;Text style={{ fontSize: 16, color: '#4A5568', marginTop: 4 }}&gt;登录、测验、申诉、教师改分、权限与退出。&lt;/Text&gt;&#10;      &lt;/Box&gt;&#10;    &lt;/Box&gt;&#10;    &lt;Box style={{ marginTop: 24, width: 1160, borderTop: '1px solid #D6DCE5' }} /&gt;&#10;    &lt;Box style={{ marginTop: 16, height: 184, background: '#F7F9FC', padding: '16px 18px', flexDirection: 'row', gap: 34 }}&gt;&#10;      &lt;Box style={{ width: 648 }}&gt;&#10;        &lt;Text style={{ fontSize: 22, color: '#1A2230', fontWeight: 'bold' }}&gt;学生端与教师端&lt;/Text&gt;&#10;        &lt;Box style={{ marginTop: 10, flexDirection: 'row', gap: 24 }}&gt;&#10;          &lt;Box style={{ flex: 1 }}&gt;&#10;            &lt;Text style={{ fontSize: 17, color: '#1E4FA8', fontWeight: 'bold' }}&gt;学习&lt;/Text&gt;&#10;            &lt;Text style={{ fontSize: 17, color: '#4A5568', marginTop: 4, lineHeight: 1.55 }}&gt;任意主题建课、起点测评、个性化计划、讲义、练习、补讲、学习助手、错题复习&lt;/Text&gt;&#10;          &lt;/Box&gt;&#10;          &lt;Box style={{ flex: 1 }}&gt;&#10;            &lt;Text style={{ fontSize: 17, color: '#1E4FA8', fontWeight: 'bold' }}&gt;管理&lt;/Text&gt;&#10;            &lt;Text style={{ fontSize: 17, color: '#4A5568', marginTop: 4, lineHeight: 1.55 }}&gt;教师审核、评分申诉、掌握度重算、学员进度、多账号隔离、记录导出&lt;/Text&gt;&#10;          &lt;/Box&gt;&#10;        &lt;/Box&gt;&#10;      &lt;/Box&gt;&#10;      &lt;Box style={{ width: 438, background: '#E8EFF8', padding: '14px 18px' }}&gt;&#10;        &lt;Text style={{ fontSize: 22, color: '#1A2230', fontWeight: 'bold' }}&gt;工程交付&lt;/Text&gt;&#10;        &lt;Text style={{ fontSize: 17, color: '#4A5568', marginTop: 8, lineHeight: 1.55 }}&gt;Windows 免安装程序、数据库备份、错误日志、长任务取消与超时处理。系统已完成真实模型联调，可运行完整教学流程。&lt;/Text&gt;&#10;      &lt;/Box&gt;&#10;    &lt;/Box&gt;&#10;    &lt;Box style={{ marginTop: 16, width: 1160, height: 54, background: '#E8EFF8', padding: '12px 16px', flexDirection: 'row', alignItems: 'center', gap: 18 }}&gt;&#10;      &lt;Text style={{ fontSize: 18, color: '#1E4FA8', fontWeight: 'bold' }}&gt;1.3.1 重点&lt;/Text&gt;&#10;      &lt;Text style={{ fontSize: 18, color: '#1A2230' }}&gt;修复非微积分主题规划失败；前测评分保留，点击“继续规划课程”即可续跑。&lt;/Text&gt;&#10;    &lt;/Box&gt;&#10;    &lt;Text style={{ fontSize: 18, color: '#1E4FA8', fontWeight: 'bold', marginTop: 16 }}&gt;成果不只在功能数量，更在于学生、教师和系统管理可以围绕同一份学习记录协同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矩形 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矩形 223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71500" y="133350"/>
            <a:ext cx="2266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主要内容与成果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10048875" y="228600"/>
            <a:ext cx="1571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01 · PROJECT DESIGN</a:t>
            </a:r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系统已形成“建课—学习—反馈—复核”的完整使用流程，并具备可交付的桌面版本。</a:t>
            </a:r>
            <a:endParaRPr/>
          </a:p>
        </p:txBody>
      </p:sp>
      <p:sp>
        <p:nvSpPr>
          <p:cNvPr id="228" name="任意多边形: 形状 227"/>
          <p:cNvSpPr/>
          <p:nvPr/>
        </p:nvSpPr>
        <p:spPr>
          <a:xfrm>
            <a:off x="571500" y="1333500"/>
            <a:ext cx="3676650" cy="1247775"/>
          </a:xfrm>
          <a:custGeom>
            <a:avLst/>
            <a:gdLst/>
            <a:ahLst/>
            <a:cxnLst/>
            <a:rect l="0" t="0" r="0" b="0"/>
            <a:pathLst>
              <a:path w="386" h="131">
                <a:moveTo>
                  <a:pt x="0" y="0"/>
                </a:moveTo>
                <a:lnTo>
                  <a:pt x="4" y="0"/>
                </a:lnTo>
                <a:lnTo>
                  <a:pt x="4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62000" y="1333500"/>
            <a:ext cx="7524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590675" y="18573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个单元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762000" y="2143125"/>
            <a:ext cx="3486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微积分验收课程</a:t>
            </a:r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62000" y="2390775"/>
            <a:ext cx="3486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从函数、极限到级数与泰勒近似。</a:t>
            </a:r>
            <a:endParaRPr/>
          </a:p>
        </p:txBody>
      </p:sp>
      <p:sp>
        <p:nvSpPr>
          <p:cNvPr id="233" name="任意多边形: 形状 232"/>
          <p:cNvSpPr/>
          <p:nvPr/>
        </p:nvSpPr>
        <p:spPr>
          <a:xfrm>
            <a:off x="4248150" y="1333500"/>
            <a:ext cx="3676650" cy="1247775"/>
          </a:xfrm>
          <a:custGeom>
            <a:avLst/>
            <a:gdLst/>
            <a:ahLst/>
            <a:cxnLst/>
            <a:rect l="0" t="0" r="0" b="0"/>
            <a:pathLst>
              <a:path w="386" h="131">
                <a:moveTo>
                  <a:pt x="0" y="0"/>
                </a:moveTo>
                <a:lnTo>
                  <a:pt x="4" y="0"/>
                </a:lnTo>
                <a:lnTo>
                  <a:pt x="4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4438650" y="1333500"/>
            <a:ext cx="7524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36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5267325" y="1857375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道题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4438650" y="2143125"/>
            <a:ext cx="3486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基准题与量规</a:t>
            </a:r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438650" y="2390775"/>
            <a:ext cx="3486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覆盖十二个单元，支持前测、后测与延迟测。</a:t>
            </a:r>
            <a:endParaRPr/>
          </a:p>
        </p:txBody>
      </p:sp>
      <p:sp>
        <p:nvSpPr>
          <p:cNvPr id="238" name="任意多边形: 形状 237"/>
          <p:cNvSpPr/>
          <p:nvPr/>
        </p:nvSpPr>
        <p:spPr>
          <a:xfrm>
            <a:off x="7924800" y="1333500"/>
            <a:ext cx="3695700" cy="1247775"/>
          </a:xfrm>
          <a:custGeom>
            <a:avLst/>
            <a:gdLst/>
            <a:ahLst/>
            <a:cxnLst/>
            <a:rect l="0" t="0" r="0" b="0"/>
            <a:pathLst>
              <a:path w="388" h="131">
                <a:moveTo>
                  <a:pt x="0" y="0"/>
                </a:moveTo>
                <a:lnTo>
                  <a:pt x="4" y="0"/>
                </a:lnTo>
                <a:lnTo>
                  <a:pt x="4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8115300" y="1333500"/>
            <a:ext cx="7524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8943975" y="18573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项检查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115300" y="2143125"/>
            <a:ext cx="3505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核心功能检查通过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8115300" y="2390775"/>
            <a:ext cx="3505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登录、测验、申诉、教师改分、权限与退出。</a:t>
            </a:r>
            <a:endParaRPr/>
          </a:p>
        </p:txBody>
      </p:sp>
      <p:sp>
        <p:nvSpPr>
          <p:cNvPr id="243" name="任意多边形: 形状 242"/>
          <p:cNvSpPr/>
          <p:nvPr/>
        </p:nvSpPr>
        <p:spPr>
          <a:xfrm>
            <a:off x="571500" y="2809875"/>
            <a:ext cx="11049000" cy="19050"/>
          </a:xfrm>
          <a:custGeom>
            <a:avLst/>
            <a:gdLst/>
            <a:ahLst/>
            <a:cxnLst/>
            <a:rect l="0" t="0" r="0" b="0"/>
            <a:pathLst>
              <a:path w="1160" h="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矩形 243"/>
          <p:cNvSpPr/>
          <p:nvPr/>
        </p:nvSpPr>
        <p:spPr>
          <a:xfrm>
            <a:off x="571500" y="2971800"/>
            <a:ext cx="11049000" cy="17526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742950" y="3124200"/>
            <a:ext cx="6172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学生端与教师端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742950" y="3476625"/>
            <a:ext cx="2971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学习</a:t>
            </a:r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742950" y="3714750"/>
            <a:ext cx="29718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任意主题建课、起点测评、个性化计划、讲义、练习、补讲、学习助手、错题复习</a:t>
            </a:r>
            <a:endParaRPr/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3943350" y="3476625"/>
            <a:ext cx="2971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管理</a:t>
            </a:r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3943350" y="3714750"/>
            <a:ext cx="29718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教师审核、评分申诉、掌握度重算、学员进度、多账号隔离、记录导出</a:t>
            </a:r>
            <a:endParaRPr/>
          </a:p>
        </p:txBody>
      </p:sp>
      <p:sp>
        <p:nvSpPr>
          <p:cNvPr id="250" name="矩形 249"/>
          <p:cNvSpPr/>
          <p:nvPr/>
        </p:nvSpPr>
        <p:spPr>
          <a:xfrm>
            <a:off x="7239000" y="3124200"/>
            <a:ext cx="4171950" cy="1504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7410450" y="3257550"/>
            <a:ext cx="3829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工程交付</a:t>
            </a:r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7410450" y="3590925"/>
            <a:ext cx="382905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Windows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免安装程序、数据库备份、错误日志、长任务取消与超时处理。系统通过真实 DeepSeek API 联调，可运行完整教学流程。</a:t>
            </a:r>
            <a:endParaRPr/>
          </a:p>
        </p:txBody>
      </p:sp>
      <p:sp>
        <p:nvSpPr>
          <p:cNvPr id="253" name="矩形 252"/>
          <p:cNvSpPr/>
          <p:nvPr/>
        </p:nvSpPr>
        <p:spPr>
          <a:xfrm>
            <a:off x="571500" y="4876800"/>
            <a:ext cx="11049000" cy="5143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723900" y="5029200"/>
            <a:ext cx="8096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1.3.1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重点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704975" y="5029200"/>
            <a:ext cx="6000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修复非微积分主题规划失败；前测评分保留，点击“继续规划课程”即可续跑。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571500" y="5543550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成果不只在功能数量，更在于学生、教师和系统管理可以围绕同一份学习记录协同。</a:t>
            </a:r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团队分工与协作&lt;/Text&gt;&#10;    &lt;Text style={{ fontSize: 16, color: '#DCE8FA' }}&gt;02 · TEAMWORK&lt;/Text&gt;&#10;  &lt;/Box&gt;&#10;  &lt;Box style={{ width: 1160, height: 540, margin: '28px 60px 0', flexDirection: 'column' }}&gt;&#10;    &lt;Text style={{ fontSize: 20, color: '#4A5568' }}&gt;按功能模块负责，先统一接口和数据结构，再进行并行开发与联调。&lt;/Text&gt;&#10;    &lt;Box style={{ marginTop: 22, width: 1160, flexDirection: 'row', background: '#E8EFF8', padding: '10px 14px' }}&gt;&#10;      &lt;Text style={{ width: 150, fontSize: 16, color: '#1E4FA8', fontWeight: 'bold' }}&gt;成员&lt;/Text&gt;&#10;      &lt;Text style={{ width: 250, fontSize: 16, color: '#1E4FA8', fontWeight: 'bold' }}&gt;负责模块&lt;/Text&gt;&#10;      &lt;Text style={{ width: 650, fontSize: 16, color: '#1E4FA8', fontWeight: 'bold' }}&gt;具体工作&lt;/Text&gt;&#10;      &lt;Text style={{ width: 82, fontSize: 16, color: '#1E4FA8', fontWeight: 'bold' }}&gt;交付&lt;/Text&gt;&#10;    &lt;/Box&gt;&#10;    &lt;Box style={{ width: 1160, height: 72, flexDirection: 'row', alignItems: 'center', padding: '0 14px', borderBottom: '1px solid #D6DCE5' }}&gt;&#10;      &lt;Text style={{ width: 150, fontSize: 19, color: '#1A2230', fontWeight: 'bold' }}&gt;【成员一】&lt;/Text&gt;&#10;      &lt;Text style={{ width: 250, fontSize: 18, color: '#1E4FA8', fontWeight: 'bold' }}&gt;教学引擎与模型编排&lt;/Text&gt;&#10;      &lt;Text style={{ width: 650, fontSize: 17, color: '#4A5568' }}&gt;前测、规划、授课、练习与批改流程；结构化输出与失败重试&lt;/Text&gt;&#10;      &lt;Text style={{ width: 82, fontSize: 16, color: '#4A5568' }}&gt;后端&lt;/Text&gt;&#10;    &lt;/Box&gt;&#10;    &lt;Box style={{ width: 1160, height: 72, flexDirection: 'row', alignItems: 'center', padding: '0 14px', borderBottom: '1px solid #E5E7EB' }}&gt;&#10;      &lt;Text style={{ width: 150, fontSize: 19, color: '#1A2230', fontWeight: 'bold' }}&gt;【成员二】&lt;/Text&gt;&#10;      &lt;Text style={{ width: 250, fontSize: 18, color: '#1E4FA8', fontWeight: 'bold' }}&gt;前端界面与交互&lt;/Text&gt;&#10;      &lt;Text style={{ width: 650, fontSize: 17, color: '#4A5568' }}&gt;课程页、学习进度、错题本、申诉与教师审核页面&lt;/Text&gt;&#10;      &lt;Text style={{ width: 82, fontSize: 16, color: '#4A5568' }}&gt;前端&lt;/Text&gt;&#10;    &lt;/Box&gt;&#10;    &lt;Box style={{ width: 1160, height: 72, flexDirection: 'row', alignItems: 'center', padding: '0 14px', borderBottom: '1px solid #E5E7EB' }}&gt;&#10;      &lt;Text style={{ width: 150, fontSize: 19, color: '#1A2230', fontWeight: 'bold' }}&gt;【成员三】&lt;/Text&gt;&#10;      &lt;Text style={{ width: 250, fontSize: 18, color: '#1E4FA8', fontWeight: 'bold' }}&gt;知识库、数学核验与测试&lt;/Text&gt;&#10;      &lt;Text style={{ width: 650, fontSize: 17, color: '#4A5568' }}&gt;十二单元课程、题目与量规；SymPy 核验和功能测试&lt;/Text&gt;&#10;      &lt;Text style={{ width: 82, fontSize: 16, color: '#4A5568' }}&gt;知识库&lt;/Text&gt;&#10;    &lt;/Box&gt;&#10;    &lt;Box style={{ width: 1160, height: 72, flexDirection: 'row', alignItems: 'center', padding: '0 14px', borderBottom: '1px solid #D6DCE5' }}&gt;&#10;      &lt;Text style={{ width: 150, fontSize: 19, color: '#1A2230', fontWeight: 'bold' }}&gt;【成员四】&lt;/Text&gt;&#10;      &lt;Text style={{ width: 250, fontSize: 18, color: '#1E4FA8', fontWeight: 'bold' }}&gt;桌面交付与数据管理&lt;/Text&gt;&#10;      &lt;Text style={{ width: 650, fontSize: 17, color: '#4A5568' }}&gt;Windows 打包、账号与备份、错误日志、答辩材料&lt;/Text&gt;&#10;      &lt;Text style={{ width: 82, fontSize: 16, color: '#4A5568' }}&gt;交付&lt;/Text&gt;&#10;    &lt;/Box&gt;&#10;    &lt;Box style={{ marginTop: 22, width: 1160, flexDirection: 'row', gap: 24 }}&gt;&#10;      &lt;Box style={{ flex: 1 }}&gt;&#10;        &lt;Text style={{ fontSize: 19, color: '#1A2230', fontWeight: 'bold' }}&gt;接口先行&lt;/Text&gt;&#10;        &lt;Text style={{ fontSize: 17, color: '#4A5568', marginTop: 5 }}&gt;先约定数据结构、状态与接口，再并行实现。&lt;/Text&gt;&#10;      &lt;/Box&gt;&#10;      &lt;Box style={{ flex: 1 }}&gt;&#10;        &lt;Text style={{ fontSize: 19, color: '#1A2230', fontWeight: 'bold' }}&gt;阶段联调&lt;/Text&gt;&#10;        &lt;Text style={{ fontSize: 17, color: '#4A5568', marginTop: 5 }}&gt;模块完成后立即接入主流程，减少末端集中返工。&lt;/Text&gt;&#10;      &lt;/Box&gt;&#10;      &lt;Box style={{ flex: 1 }}&gt;&#10;        &lt;Text style={{ fontSize: 19, color: '#1A2230', fontWeight: 'bold' }}&gt;共同验收&lt;/Text&gt;&#10;        &lt;Text style={{ fontSize: 17, color: '#4A5568', marginTop: 5 }}&gt;关键流程由全组按真实使用顺序走查并记录问题。&lt;/Text&gt;&#10;      &lt;/Box&gt;&#10;    &lt;/Box&gt;&#10;    &lt;Text style={{ fontSize: 16, color: '#4A5568', marginTop: 18 }}&gt;说明：以上为成员分工模板，答辩前请替换为真实姓名，并按实际承担内容微调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 2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1" name="矩形 260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571500" y="133350"/>
            <a:ext cx="2266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团队分工与协作</a:t>
            </a:r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10410825" y="228600"/>
            <a:ext cx="12096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02 · TEAMWORK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按功能模块负责，先统一接口和数据结构，再进行并行开发与联调。</a:t>
            </a:r>
            <a:endParaRPr/>
          </a:p>
        </p:txBody>
      </p:sp>
      <p:sp>
        <p:nvSpPr>
          <p:cNvPr id="265" name="矩形 264"/>
          <p:cNvSpPr/>
          <p:nvPr/>
        </p:nvSpPr>
        <p:spPr>
          <a:xfrm>
            <a:off x="571500" y="1352550"/>
            <a:ext cx="11049000" cy="381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704850" y="1447800"/>
            <a:ext cx="1428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成员</a:t>
            </a:r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2133600" y="1447800"/>
            <a:ext cx="2381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负责模块</a:t>
            </a:r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4514850" y="1447800"/>
            <a:ext cx="6191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具体工作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0706100" y="1447800"/>
            <a:ext cx="781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270" name="任意多边形: 形状 269"/>
          <p:cNvSpPr/>
          <p:nvPr/>
        </p:nvSpPr>
        <p:spPr>
          <a:xfrm>
            <a:off x="571500" y="1733550"/>
            <a:ext cx="11049000" cy="685800"/>
          </a:xfrm>
          <a:custGeom>
            <a:avLst/>
            <a:gdLst/>
            <a:ahLst/>
            <a:cxnLst/>
            <a:rect l="0" t="0" r="0" b="0"/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04850" y="1962150"/>
            <a:ext cx="1428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>汤家齐</a:t>
            </a:r>
            <a:r>
              <a:rPr lang="zh-CN" altLang="en-US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  <a:r>
              <a:rPr lang="zh-CN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  <a:endParaRPr dirty="0"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2133600" y="1971675"/>
            <a:ext cx="2381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教学引擎、桌面交付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4514850" y="1971675"/>
            <a:ext cx="6191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前测、规划、授课、练习与批改流程；结构化输出、任务状态与 Windows 打包发布</a:t>
            </a:r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0706100" y="1981200"/>
            <a:ext cx="781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后端 / 交付</a:t>
            </a:r>
            <a:endParaRPr/>
          </a:p>
        </p:txBody>
      </p:sp>
      <p:sp>
        <p:nvSpPr>
          <p:cNvPr id="275" name="任意多边形: 形状 274"/>
          <p:cNvSpPr/>
          <p:nvPr/>
        </p:nvSpPr>
        <p:spPr>
          <a:xfrm>
            <a:off x="571500" y="2419350"/>
            <a:ext cx="11049000" cy="685800"/>
          </a:xfrm>
          <a:custGeom>
            <a:avLst/>
            <a:gdLst/>
            <a:ahLst/>
            <a:cxnLst/>
            <a:rect l="0" t="0" r="0" b="0"/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04850" y="2647950"/>
            <a:ext cx="1428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>张清波</a:t>
            </a:r>
            <a:r>
              <a:rPr lang="zh-CN" altLang="en-US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  <a:r>
              <a:rPr lang="zh-CN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  <a:endParaRPr dirty="0"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2133600" y="2657475"/>
            <a:ext cx="2381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前端界面与交互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4514850" y="2657475"/>
            <a:ext cx="6191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课程页、学习进度、错题本、申诉与教师审核页面；响应式布局与交互检查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0706100" y="2667000"/>
            <a:ext cx="781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280" name="任意多边形: 形状 279"/>
          <p:cNvSpPr/>
          <p:nvPr/>
        </p:nvSpPr>
        <p:spPr>
          <a:xfrm>
            <a:off x="571500" y="3105150"/>
            <a:ext cx="11049000" cy="685800"/>
          </a:xfrm>
          <a:custGeom>
            <a:avLst/>
            <a:gdLst/>
            <a:ahLst/>
            <a:cxnLst/>
            <a:rect l="0" t="0" r="0" b="0"/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704850" y="3333750"/>
            <a:ext cx="1428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>吕绍康</a:t>
            </a:r>
            <a:r>
              <a:rPr lang="zh-CN" altLang="en-US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  <a:r>
              <a:rPr lang="zh-CN" sz="1425" b="1" dirty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  <a:endParaRPr dirty="0"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2133600" y="3343275"/>
            <a:ext cx="2381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知识库、数学核验与测试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4514850" y="3343275"/>
            <a:ext cx="6191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十二单元课程、三十六道题与量规；SymPy 核验、自动化测试与数据管理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/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/>
            </a:r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10706100" y="3352800"/>
            <a:ext cx="781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知识库 / 测试</a:t>
            </a:r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571500" y="4186300"/>
            <a:ext cx="3533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接口先行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571500" y="4453000"/>
            <a:ext cx="3533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先约定数据结构、状态与接口，再并行实现。</a:t>
            </a:r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4333875" y="4186300"/>
            <a:ext cx="3524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阶段联调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333875" y="4453000"/>
            <a:ext cx="352425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模块完成后立即接入主流程，减少末端集中返工。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086725" y="4186300"/>
            <a:ext cx="3533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共同验收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086725" y="4453000"/>
            <a:ext cx="35337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关键流程由全组按真实使用顺序走查并记录问题。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571500" y="5150000"/>
            <a:ext cx="11049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568"/>
                </a:solidFill>
                <a:latin typeface="Microsoft YaHei"/>
              </a:rPr>
              <a:t>三人按模块负责，关键流程由全组按真实使用顺序共同走查与验收。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操作演示：从建课到反馈&lt;/Text&gt;&#10;    &lt;Text style={{ fontSize: 16, color: '#DCE8FA' }}&gt;03 · DEMONSTRATION&lt;/Text&gt;&#10;  &lt;/Box&gt;&#10;  &lt;Box style={{ width: 1160, height: 540, margin: '28px 60px 0', flexDirection: 'column' }}&gt;&#10;    &lt;Text style={{ fontSize: 20, color: '#4A5568' }}&gt;按学生实际使用顺序演示，重点展示学习记录如何影响下一步教学。&lt;/Text&gt;&#10;    &lt;Box style={{ marginTop: 20, width: 1160, flexDirection: 'row', gap: 25 }}&gt;&#10;      &lt;Box style={{ width: 370, height: 150, background: '#F7F9FC', borderTop: '3px solid #1E4FA8', padding: '14px 16px' }}&gt;&#10;        &lt;Text style={{ fontSize: 16, color: '#3D7BD9', fontWeight: 'bold' }}&gt;STEP 01&lt;/Text&gt;&#10;        &lt;Text style={{ fontSize: 21, color: '#1A2230', fontWeight: 'bold', marginTop: 6 }}&gt;新建主题&lt;/Text&gt;&#10;        &lt;Text style={{ fontSize: 17, color: '#4A5568', marginTop: 8 }}&gt;输入主题、基础、目标与每周时间。&lt;/Text&gt;&#10;      &lt;/Box&gt;&#10;      &lt;Box style={{ width: 370, height: 150, background: '#F7F9FC', borderTop: '3px solid #3D7BD9', padding: '14px 16px' }}&gt;&#10;        &lt;Text style={{ fontSize: 16, color: '#3D7BD9', fontWeight: 'bold' }}&gt;STEP 02&lt;/Text&gt;&#10;        &lt;Text style={{ fontSize: 21, color: '#1A2230', fontWeight: 'bold', marginTop: 6 }}&gt;起点测评&lt;/Text&gt;&#10;        &lt;Text style={{ fontSize: 17, color: '#4A5568', marginTop: 8 }}&gt;作答后形成真实学情，未测单元保持未知。&lt;/Text&gt;&#10;      &lt;/Box&gt;&#10;      &lt;Box style={{ width: 370, height: 150, background: '#F7F9FC', borderTop: '3px solid #3D7BD9', padding: '14px 16px' }}&gt;&#10;        &lt;Text style={{ fontSize: 16, color: '#3D7BD9', fontWeight: 'bold' }}&gt;STEP 03&lt;/Text&gt;&#10;        &lt;Text style={{ fontSize: 21, color: '#1A2230', fontWeight: 'bold', marginTop: 6 }}&gt;计划与讲义&lt;/Text&gt;&#10;        &lt;Text style={{ fontSize: 17, color: '#4A5568', marginTop: 8 }}&gt;查看知识地图、单元顺序、讲解与例题。&lt;/Text&gt;&#10;      &lt;/Box&gt;&#10;    &lt;/Box&gt;&#10;    &lt;Box style={{ marginTop: 16, width: 1160, flexDirection: 'row', gap: 25 }}&gt;&#10;      &lt;Box style={{ width: 370, height: 150, background: '#F7F9FC', borderTop: '3px solid #1E4FA8', padding: '14px 16px' }}&gt;&#10;        &lt;Text style={{ fontSize: 16, color: '#3D7BD9', fontWeight: 'bold' }}&gt;STEP 04&lt;/Text&gt;&#10;        &lt;Text style={{ fontSize: 21, color: '#1A2230', fontWeight: 'bold', marginTop: 6 }}&gt;提交练习&lt;/Text&gt;&#10;        &lt;Text style={{ fontSize: 17, color: '#4A5568', marginTop: 8 }}&gt;按当前单元作答，提交后立即出现反馈。&lt;/Text&gt;&#10;      &lt;/Box&gt;&#10;      &lt;Box style={{ width: 370, height: 150, background: '#E8EFF8', borderTop: '3px solid #1E4FA8', padding: '14px 16px' }}&gt;&#10;        &lt;Text style={{ fontSize: 16, color: '#1E4FA8', fontWeight: 'bold' }}&gt;STEP 05&lt;/Text&gt;&#10;        &lt;Text style={{ fontSize: 21, color: '#1A2230', fontWeight: 'bold', marginTop: 6 }}&gt;批改与补讲&lt;/Text&gt;&#10;        &lt;Text style={{ fontSize: 17, color: '#4A5568', marginTop: 8 }}&gt;看错误定位、申诉入口，并生成新练习。&lt;/Text&gt;&#10;      &lt;/Box&gt;&#10;      &lt;Box style={{ width: 370, height: 150, background: '#F7F9FC', borderTop: '3px solid #1E4FA8', padding: '14px 16px' }}&gt;&#10;        &lt;Text style={{ fontSize: 16, color: '#3D7BD9', fontWeight: 'bold' }}&gt;STEP 06&lt;/Text&gt;&#10;        &lt;Text style={{ fontSize: 21, color: '#1A2230', fontWeight: 'bold', marginTop: 6 }}&gt;教师审核&lt;/Text&gt;&#10;        &lt;Text style={{ fontSize: 17, color: '#4A5568', marginTop: 8 }}&gt;确认或改分，查看掌握度与学员进度。&lt;/Text&gt;&#10;      &lt;/Box&gt;&#10;    &lt;/Box&gt;&#10;    &lt;Box style={{ marginTop: 22, width: 1160, background: '#E8EFF8', padding: '13px 18px', flexDirection: 'row', alignItems: 'center', gap: 20 }}&gt;&#10;      &lt;Text style={{ fontSize: 17, color: '#1E4FA8', fontWeight: 'bold' }}&gt;演示准备&lt;/Text&gt;&#10;      &lt;Text style={{ fontSize: 17, color: '#1A2230' }}&gt;管理员已登录 · 微积分课程已建好 · 模型服务可用 · 网络异常时切换已保存记录&lt;/Text&gt;&#10;    &lt;/Box&gt;&#10;    &lt;Box style={{ marginTop: 16, width: 1160, flexDirection: 'row', gap: 24 }}&gt;&#10;      &lt;Text style={{ fontSize: 17, color: '#1A2230' }}&gt;&lt;span style={{ color: '#1E4FA8', fontWeight: 'bold' }}&gt;讲解重点：&lt;/span&gt;知识地图体现顺序，练习反馈体现闭环，教师改分体现可控。&lt;/Text&gt;&#10;    &lt;/Box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矩形 2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1" name="矩形 300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571500" y="133350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操作演示：从建课到反馈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9963150" y="228600"/>
            <a:ext cx="1657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03 · DEMONSTRATION</a:t>
            </a:r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按学生实际使用顺序演示，重点展示学习记录如何影响下一步教学。</a:t>
            </a:r>
            <a:endParaRPr/>
          </a:p>
        </p:txBody>
      </p:sp>
      <p:sp>
        <p:nvSpPr>
          <p:cNvPr id="305" name="矩形 304"/>
          <p:cNvSpPr/>
          <p:nvPr/>
        </p:nvSpPr>
        <p:spPr>
          <a:xfrm>
            <a:off x="571500" y="1362075"/>
            <a:ext cx="3524250" cy="14001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6" name="任意多边形: 形状 305"/>
          <p:cNvSpPr/>
          <p:nvPr/>
        </p:nvSpPr>
        <p:spPr>
          <a:xfrm>
            <a:off x="571500" y="1333500"/>
            <a:ext cx="3524250" cy="1428750"/>
          </a:xfrm>
          <a:custGeom>
            <a:avLst/>
            <a:gdLst/>
            <a:ahLst/>
            <a:cxnLst/>
            <a:rect l="0" t="0" r="0" b="0"/>
            <a:pathLst>
              <a:path w="370" h="150">
                <a:moveTo>
                  <a:pt x="0" y="0"/>
                </a:moveTo>
                <a:lnTo>
                  <a:pt x="370" y="0"/>
                </a:lnTo>
                <a:lnTo>
                  <a:pt x="37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723900" y="1495425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STEP 01</a:t>
            </a:r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723900" y="1743075"/>
            <a:ext cx="3219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新建主题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23900" y="2066925"/>
            <a:ext cx="3219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输入主题、基础、目标与每周时间。</a:t>
            </a:r>
            <a:endParaRPr/>
          </a:p>
        </p:txBody>
      </p:sp>
      <p:sp>
        <p:nvSpPr>
          <p:cNvPr id="310" name="矩形 309"/>
          <p:cNvSpPr/>
          <p:nvPr/>
        </p:nvSpPr>
        <p:spPr>
          <a:xfrm>
            <a:off x="4333875" y="1362075"/>
            <a:ext cx="3524250" cy="14001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1" name="任意多边形: 形状 310"/>
          <p:cNvSpPr/>
          <p:nvPr/>
        </p:nvSpPr>
        <p:spPr>
          <a:xfrm>
            <a:off x="4333875" y="1333500"/>
            <a:ext cx="3524250" cy="1428750"/>
          </a:xfrm>
          <a:custGeom>
            <a:avLst/>
            <a:gdLst/>
            <a:ahLst/>
            <a:cxnLst/>
            <a:rect l="0" t="0" r="0" b="0"/>
            <a:pathLst>
              <a:path w="370" h="150">
                <a:moveTo>
                  <a:pt x="0" y="0"/>
                </a:moveTo>
                <a:lnTo>
                  <a:pt x="370" y="0"/>
                </a:lnTo>
                <a:lnTo>
                  <a:pt x="370" y="3"/>
                </a:lnTo>
                <a:lnTo>
                  <a:pt x="0" y="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486275" y="1495425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STEP 02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4486275" y="1743075"/>
            <a:ext cx="3219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起点测评</a:t>
            </a:r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4486275" y="2066925"/>
            <a:ext cx="3219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作答后形成真实学情，未测单元保持未知。</a:t>
            </a:r>
            <a:endParaRPr/>
          </a:p>
        </p:txBody>
      </p:sp>
      <p:sp>
        <p:nvSpPr>
          <p:cNvPr id="315" name="矩形 314"/>
          <p:cNvSpPr/>
          <p:nvPr/>
        </p:nvSpPr>
        <p:spPr>
          <a:xfrm>
            <a:off x="8096250" y="1362075"/>
            <a:ext cx="3524250" cy="14001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6" name="任意多边形: 形状 315"/>
          <p:cNvSpPr/>
          <p:nvPr/>
        </p:nvSpPr>
        <p:spPr>
          <a:xfrm>
            <a:off x="8096250" y="1333500"/>
            <a:ext cx="3524250" cy="1428750"/>
          </a:xfrm>
          <a:custGeom>
            <a:avLst/>
            <a:gdLst/>
            <a:ahLst/>
            <a:cxnLst/>
            <a:rect l="0" t="0" r="0" b="0"/>
            <a:pathLst>
              <a:path w="370" h="150">
                <a:moveTo>
                  <a:pt x="0" y="0"/>
                </a:moveTo>
                <a:lnTo>
                  <a:pt x="370" y="0"/>
                </a:lnTo>
                <a:lnTo>
                  <a:pt x="370" y="3"/>
                </a:lnTo>
                <a:lnTo>
                  <a:pt x="0" y="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248650" y="1495425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STEP 03</a:t>
            </a:r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8248650" y="1743075"/>
            <a:ext cx="3219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计划与讲义</a:t>
            </a:r>
            <a:endParaRPr/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8248650" y="2066925"/>
            <a:ext cx="3219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查看知识地图、单元顺序、讲解与例题。</a:t>
            </a:r>
            <a:endParaRPr/>
          </a:p>
        </p:txBody>
      </p:sp>
      <p:sp>
        <p:nvSpPr>
          <p:cNvPr id="320" name="矩形 319"/>
          <p:cNvSpPr/>
          <p:nvPr/>
        </p:nvSpPr>
        <p:spPr>
          <a:xfrm>
            <a:off x="571500" y="2943225"/>
            <a:ext cx="3524250" cy="14001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1" name="任意多边形: 形状 320"/>
          <p:cNvSpPr/>
          <p:nvPr/>
        </p:nvSpPr>
        <p:spPr>
          <a:xfrm>
            <a:off x="571500" y="2914650"/>
            <a:ext cx="3524250" cy="1428750"/>
          </a:xfrm>
          <a:custGeom>
            <a:avLst/>
            <a:gdLst/>
            <a:ahLst/>
            <a:cxnLst/>
            <a:rect l="0" t="0" r="0" b="0"/>
            <a:pathLst>
              <a:path w="370" h="150">
                <a:moveTo>
                  <a:pt x="0" y="0"/>
                </a:moveTo>
                <a:lnTo>
                  <a:pt x="370" y="0"/>
                </a:lnTo>
                <a:lnTo>
                  <a:pt x="37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723900" y="3076575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STEP 04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723900" y="3324225"/>
            <a:ext cx="3219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提交练习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723900" y="3648075"/>
            <a:ext cx="3219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按当前单元作答，提交后立即出现反馈。</a:t>
            </a:r>
            <a:endParaRPr/>
          </a:p>
        </p:txBody>
      </p:sp>
      <p:sp>
        <p:nvSpPr>
          <p:cNvPr id="325" name="矩形 324"/>
          <p:cNvSpPr/>
          <p:nvPr/>
        </p:nvSpPr>
        <p:spPr>
          <a:xfrm>
            <a:off x="4333875" y="2943225"/>
            <a:ext cx="3524250" cy="14001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6" name="任意多边形: 形状 325"/>
          <p:cNvSpPr/>
          <p:nvPr/>
        </p:nvSpPr>
        <p:spPr>
          <a:xfrm>
            <a:off x="4333875" y="2914650"/>
            <a:ext cx="3524250" cy="1428750"/>
          </a:xfrm>
          <a:custGeom>
            <a:avLst/>
            <a:gdLst/>
            <a:ahLst/>
            <a:cxnLst/>
            <a:rect l="0" t="0" r="0" b="0"/>
            <a:pathLst>
              <a:path w="370" h="150">
                <a:moveTo>
                  <a:pt x="0" y="0"/>
                </a:moveTo>
                <a:lnTo>
                  <a:pt x="370" y="0"/>
                </a:lnTo>
                <a:lnTo>
                  <a:pt x="37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4486275" y="3076575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STEP 05</a:t>
            </a:r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486275" y="3324225"/>
            <a:ext cx="3219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批改与补讲</a:t>
            </a:r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4486275" y="3648075"/>
            <a:ext cx="3219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看错误定位、申诉入口，并生成新练习。</a:t>
            </a:r>
            <a:endParaRPr/>
          </a:p>
        </p:txBody>
      </p:sp>
      <p:sp>
        <p:nvSpPr>
          <p:cNvPr id="330" name="矩形 329"/>
          <p:cNvSpPr/>
          <p:nvPr/>
        </p:nvSpPr>
        <p:spPr>
          <a:xfrm>
            <a:off x="8096250" y="2943225"/>
            <a:ext cx="3524250" cy="14001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1" name="任意多边形: 形状 330"/>
          <p:cNvSpPr/>
          <p:nvPr/>
        </p:nvSpPr>
        <p:spPr>
          <a:xfrm>
            <a:off x="8096250" y="2914650"/>
            <a:ext cx="3524250" cy="1428750"/>
          </a:xfrm>
          <a:custGeom>
            <a:avLst/>
            <a:gdLst/>
            <a:ahLst/>
            <a:cxnLst/>
            <a:rect l="0" t="0" r="0" b="0"/>
            <a:pathLst>
              <a:path w="370" h="150">
                <a:moveTo>
                  <a:pt x="0" y="0"/>
                </a:moveTo>
                <a:lnTo>
                  <a:pt x="370" y="0"/>
                </a:lnTo>
                <a:lnTo>
                  <a:pt x="37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8248650" y="3076575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STEP 06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8248650" y="3324225"/>
            <a:ext cx="3219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教师审核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8248650" y="3648075"/>
            <a:ext cx="3219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确认或改分，查看掌握度与学员进度。</a:t>
            </a:r>
            <a:endParaRPr/>
          </a:p>
        </p:txBody>
      </p:sp>
      <p:sp>
        <p:nvSpPr>
          <p:cNvPr id="335" name="矩形 334"/>
          <p:cNvSpPr/>
          <p:nvPr/>
        </p:nvSpPr>
        <p:spPr>
          <a:xfrm>
            <a:off x="571500" y="4552950"/>
            <a:ext cx="11049000" cy="4476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742950" y="46767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演示准备</a:t>
            </a:r>
            <a:endParaRPr/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1581150" y="4676775"/>
            <a:ext cx="55911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管理员已登录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微积分课程已建好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模型服务可用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网络异常时切换已保存记录</a:t>
            </a:r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571500" y="5153025"/>
            <a:ext cx="51816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讲解重点：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知识地图体现顺序，练习反馈体现闭环，教师改分体现可控。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核心界面演示&lt;/Text&gt;&#10;    &lt;Text style={{ fontSize: 16, color: '#DCE8FA' }}&gt;03 · DEMONSTRATION&lt;/Text&gt;&#10;  &lt;/Box&gt;&#10;  &lt;Box style={{ width: 1160, height: 540, margin: '28px 60px 0', flexDirection: 'column' }}&gt;&#10;    &lt;Text style={{ fontSize: 20, color: '#4A5568' }}&gt;学生查看反馈并申诉，教师在同一记录上确认或改分，掌握度随之更新。&lt;/Text&gt;&#10;    &lt;Box style={{ marginTop: 18, flexDirection: 'row', gap: 28, height: 452 }}&gt;&#10;      &lt;Box style={{ width: 630 }}&gt;&#10;        &lt;Image src=&quot;assets/feedback.png&quot; style={{ width: 630, height: 420, objectFit: 'cover', border: '1px solid #D6DCE5' }} /&gt;&#10;        &lt;Text style={{ fontSize: 17, color: '#1A2230', fontWeight: 'bold', marginTop: 9 }}&gt;练习反馈：逐题得分、错误定位、申诉与补讲入口&lt;/Text&gt;&#10;      &lt;/Box&gt;&#10;      &lt;Box style={{ width: 502 }}&gt;&#10;        &lt;Box style={{ width: 502, height: 58, background: '#E8EFF8', padding: '10px 14px' }}&gt;&#10;          &lt;Text style={{ fontSize: 17, color: '#1E4FA8', fontWeight: 'bold' }}&gt;教师端看到同一份学习记录&lt;/Text&gt;&#10;          &lt;Text style={{ fontSize: 16, color: '#4A5568', marginTop: 3 }}&gt;申诉理由、AI 建议、原分与修改分并列显示。&lt;/Text&gt;&#10;        &lt;/Box&gt;&#10;        &lt;Image src=&quot;assets/teacher.png&quot; style={{ width: 502, height: 335, objectFit: 'cover', border: '1px solid #D6DCE5', marginTop: 10 }} /&gt;&#10;        &lt;Text style={{ fontSize: 17, color: '#1A2230', fontWeight: 'bold', marginTop: 9 }}&gt;教师审核：确认、改分并重新计算掌握度&lt;/Text&gt;&#10;      &lt;/Box&gt;&#10;    &lt;/Box&gt;&#10;  &lt;/Box&gt;&#10;  &lt;Box style={{ width: 1160, height: 22, margin: '20px 60px 0', flexDirection: 'row', justifyContent: 'space-between' }}&gt;&#10;    &lt;Text style={{ fontSize: 14, color: '#8B97A8' }}&gt;知行 1.3.1 结题答辩 · 界面为演示数据&lt;/Text&gt;&#10;    &lt;Text style={{ fontSize: 14, color: '#8B97A8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3" name="矩形 342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571500" y="133350"/>
            <a:ext cx="19431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核心界面演示</a:t>
            </a:r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9963150" y="228600"/>
            <a:ext cx="1657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03 · DEMONSTRATION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学生查看反馈并申诉，教师在同一记录上确认或改分，掌握度随之更新。</a:t>
            </a:r>
            <a:endParaRPr/>
          </a:p>
        </p:txBody>
      </p:sp>
      <p:sp>
        <p:nvSpPr>
          <p:cNvPr id="347" name="矩形 346"/>
          <p:cNvSpPr/>
          <p:nvPr/>
        </p:nvSpPr>
        <p:spPr>
          <a:xfrm>
            <a:off x="571500" y="1314450"/>
            <a:ext cx="6000750" cy="40005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8" name="图片 3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14450"/>
            <a:ext cx="6000750" cy="4000500"/>
          </a:xfrm>
          <a:prstGeom prst="rect">
            <a:avLst/>
          </a:prstGeom>
          <a:ln/>
        </p:spPr>
      </p:pic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571500" y="5400675"/>
            <a:ext cx="6000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练习反馈：逐题得分、错误定位、申诉与补讲入口</a:t>
            </a:r>
            <a:endParaRPr/>
          </a:p>
        </p:txBody>
      </p:sp>
      <p:sp>
        <p:nvSpPr>
          <p:cNvPr id="350" name="矩形 349"/>
          <p:cNvSpPr/>
          <p:nvPr/>
        </p:nvSpPr>
        <p:spPr>
          <a:xfrm>
            <a:off x="6838950" y="1314450"/>
            <a:ext cx="4781550" cy="552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972300" y="1409700"/>
            <a:ext cx="4514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教师端看到同一份学习记录</a:t>
            </a:r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6972300" y="1638300"/>
            <a:ext cx="45148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申诉理由、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建议、原分与修改分并列显示。</a:t>
            </a:r>
            <a:endParaRPr/>
          </a:p>
        </p:txBody>
      </p:sp>
      <p:sp>
        <p:nvSpPr>
          <p:cNvPr id="353" name="矩形 352"/>
          <p:cNvSpPr/>
          <p:nvPr/>
        </p:nvSpPr>
        <p:spPr>
          <a:xfrm>
            <a:off x="6838950" y="1962150"/>
            <a:ext cx="4781550" cy="31908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4" name="图片 353"/>
          <p:cNvPicPr>
            <a:picLocks noChangeAspect="1"/>
          </p:cNvPicPr>
          <p:nvPr/>
        </p:nvPicPr>
        <p:blipFill>
          <a:blip r:embed="rId3"/>
          <a:srcRect l="49" r="49"/>
          <a:stretch>
            <a:fillRect/>
          </a:stretch>
        </p:blipFill>
        <p:spPr>
          <a:xfrm>
            <a:off x="6838950" y="1962150"/>
            <a:ext cx="4781550" cy="3190875"/>
          </a:xfrm>
          <a:prstGeom prst="rect">
            <a:avLst/>
          </a:prstGeom>
          <a:ln/>
        </p:spPr>
      </p:pic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6838950" y="5238750"/>
            <a:ext cx="478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教师审核：确认、改分并重新计算掌握度</a:t>
            </a:r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571500" y="6248400"/>
            <a:ext cx="22288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界面示例</a:t>
            </a:r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项目亮点与创新点&lt;/Text&gt;&#10;    &lt;Text style={{ fontSize: 16, color: '#DCE8FA' }}&gt;04 · REFLECTION&lt;/Text&gt;&#10;  &lt;/Box&gt;&#10;  &lt;Box style={{ width: 1160, height: 540, margin: '28px 60px 0', flexDirection: 'column' }}&gt;&#10;    &lt;Text style={{ fontSize: 20, color: '#4A5568' }}&gt;亮点都落在具体机制和工程实现上，而不是单纯增加生成内容。&lt;/Text&gt;&#10;    &lt;Box style={{ marginTop: 20, flexDirection: 'row', gap: 30, height: 414 }}&gt;&#10;      &lt;Box style={{ width: 432, height: 414, background: '#1E4FA8', padding: '28px 26px', flexDirection: 'column', justifyContent: 'space-between' }}&gt;&#10;        &lt;Box&gt;&#10;          &lt;Text style={{ fontSize: 16, color: '#DCE8FA', fontWeight: 'bold' }}&gt;CORE IDEA&lt;/Text&gt;&#10;          &lt;Text style={{ fontSize: 46, color: '#FFFFFF', fontWeight: 'bold', lineHeight: 1.2, marginTop: 16 }}&gt;学习闭环&lt;br /&gt;而非单轮问答&lt;/Text&gt;&#10;        &lt;/Box&gt;&#10;        &lt;Box&gt;&#10;          &lt;Text style={{ fontSize: 17, color: '#DCE8FA', lineHeight: 1.7 }}&gt;学习记录持续参与下一步决策：前测影响计划，练习影响掌握度，反馈影响补讲与推进。&lt;/Text&gt;&#10;          &lt;Text style={{ fontSize: 16, color: '#FFFFFF', fontWeight: 'bold', marginTop: 14 }}&gt;诊断 → 规划 → 授课 → 练习 → 批改&lt;/Text&gt;&#10;        &lt;/Box&gt;&#10;      &lt;/Box&gt;&#10;      &lt;Box style={{ width: 698, flexDirection: 'column' }}&gt;&#10;        &lt;Box style={{ height: 122, borderLeft: '4px solid #1E4FA8', paddingLeft: 18 }}&gt;&#10;          &lt;Text style={{ fontSize: 24, color: '#1A2230', fontWeight: 'bold' }}&gt;01　以学习证据推进&lt;/Text&gt;&#10;          &lt;Text style={{ fontSize: 18, color: '#4A5568', marginTop: 8, lineHeight: 1.55 }}&gt;不是固定课程播放，而是由前测、练习和掌握度决定下一单元。&lt;/Text&gt;&#10;        &lt;/Box&gt;&#10;        &lt;Box style={{ marginTop: 18, height: 122, borderLeft: '4px solid #3D7BD9', paddingLeft: 18 }}&gt;&#10;          &lt;Text style={{ fontSize: 24, color: '#1A2230', fontWeight: 'bold' }}&gt;02　模型生成与规则核验协同&lt;/Text&gt;&#10;          &lt;Text style={{ fontSize: 18, color: '#4A5568', marginTop: 8, lineHeight: 1.55 }}&gt;知识图谱控制顺序，SymPy 校验可解析表达式，AI 标注不确定结果。&lt;/Text&gt;&#10;        &lt;/Box&gt;&#10;        &lt;Box style={{ marginTop: 18, height: 122, borderLeft: '4px solid #1E4FA8', paddingLeft: 18 }}&gt;&#10;          &lt;Text style={{ fontSize: 24, color: '#1A2230', fontWeight: 'bold' }}&gt;03　完整的学生—教师—桌面流程&lt;/Text&gt;&#10;          &lt;Text style={{ fontSize: 18, color: '#4A5568', marginTop: 8, lineHeight: 1.55 }}&gt;申诉、教师改分、多账号、备份与免安装交付形成可用产品。&lt;/Text&gt;&#10;        &lt;/Box&gt;&#10;      &lt;/Box&gt;&#10;    &lt;/Box&gt;&#10;    &lt;Text style={{ fontSize: 18, color: '#1E4FA8', fontWeight: 'bold', marginTop: 22 }}&gt;可演示、可追溯、可继续迭代，是项目从课程作业走向产品原型的关键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71500" y="133350"/>
            <a:ext cx="259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项目亮点与创新点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10401300" y="228600"/>
            <a:ext cx="121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04 · REFLECTION</a:t>
            </a:r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亮点都落在具体机制和工程实现上，而不是单纯增加生成内容。</a:t>
            </a:r>
            <a:endParaRPr/>
          </a:p>
        </p:txBody>
      </p:sp>
      <p:sp>
        <p:nvSpPr>
          <p:cNvPr id="14" name="矩形 13"/>
          <p:cNvSpPr/>
          <p:nvPr/>
        </p:nvSpPr>
        <p:spPr>
          <a:xfrm>
            <a:off x="571500" y="1333500"/>
            <a:ext cx="4114800" cy="39433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819150" y="1600200"/>
            <a:ext cx="3619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8FA"/>
                </a:solidFill>
                <a:latin typeface="Microsoft YaHei"/>
                <a:ea typeface="Microsoft YaHei"/>
              </a:rPr>
              <a:t>CORE IDEA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819150" y="1943100"/>
            <a:ext cx="3619500" cy="1266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学习闭环</a:t>
            </a:r>
            <a:endParaRPr/>
          </a:p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而非单轮问答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819150" y="4019550"/>
            <a:ext cx="36195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DCE8FA"/>
                </a:solidFill>
                <a:latin typeface="Microsoft YaHei"/>
                <a:ea typeface="Microsoft YaHei"/>
              </a:rPr>
              <a:t>学习记录持续参与下一步决策：前测影响计划，练习影响掌握度，反馈影响补讲与推进。</a:t>
            </a:r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19150" y="4819650"/>
            <a:ext cx="3619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诊断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规划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授课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练习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批改</a:t>
            </a:r>
            <a:endParaRPr/>
          </a:p>
        </p:txBody>
      </p:sp>
      <p:sp>
        <p:nvSpPr>
          <p:cNvPr id="19" name="任意多边形: 形状 18"/>
          <p:cNvSpPr/>
          <p:nvPr/>
        </p:nvSpPr>
        <p:spPr>
          <a:xfrm>
            <a:off x="4972050" y="1333500"/>
            <a:ext cx="6686550" cy="1162050"/>
          </a:xfrm>
          <a:custGeom>
            <a:avLst/>
            <a:gdLst/>
            <a:ahLst/>
            <a:cxnLst/>
            <a:rect l="0" t="0" r="0" b="0"/>
            <a:pathLst>
              <a:path w="702" h="122">
                <a:moveTo>
                  <a:pt x="0" y="0"/>
                </a:moveTo>
                <a:lnTo>
                  <a:pt x="4" y="0"/>
                </a:lnTo>
                <a:lnTo>
                  <a:pt x="4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181600" y="1333500"/>
            <a:ext cx="6438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01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　以学习证据推进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181600" y="1685925"/>
            <a:ext cx="64389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不是固定课程播放，而是由前测、练习和掌握度决定下一单元。</a:t>
            </a:r>
            <a:endParaRPr/>
          </a:p>
        </p:txBody>
      </p:sp>
      <p:sp>
        <p:nvSpPr>
          <p:cNvPr id="22" name="任意多边形: 形状 21"/>
          <p:cNvSpPr/>
          <p:nvPr/>
        </p:nvSpPr>
        <p:spPr>
          <a:xfrm>
            <a:off x="4972050" y="2667000"/>
            <a:ext cx="6686550" cy="1162050"/>
          </a:xfrm>
          <a:custGeom>
            <a:avLst/>
            <a:gdLst/>
            <a:ahLst/>
            <a:cxnLst/>
            <a:rect l="0" t="0" r="0" b="0"/>
            <a:pathLst>
              <a:path w="702" h="122">
                <a:moveTo>
                  <a:pt x="0" y="0"/>
                </a:moveTo>
                <a:lnTo>
                  <a:pt x="4" y="0"/>
                </a:lnTo>
                <a:lnTo>
                  <a:pt x="4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5181600" y="2667000"/>
            <a:ext cx="6438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02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　模型生成与规则核验协同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181600" y="3019425"/>
            <a:ext cx="64389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知识图谱控制顺序，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SymPy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校验可解析表达式，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标注不确定结果。</a:t>
            </a:r>
            <a:endParaRPr/>
          </a:p>
        </p:txBody>
      </p:sp>
      <p:sp>
        <p:nvSpPr>
          <p:cNvPr id="25" name="任意多边形: 形状 24"/>
          <p:cNvSpPr/>
          <p:nvPr/>
        </p:nvSpPr>
        <p:spPr>
          <a:xfrm>
            <a:off x="4972050" y="4000500"/>
            <a:ext cx="6686550" cy="1162050"/>
          </a:xfrm>
          <a:custGeom>
            <a:avLst/>
            <a:gdLst/>
            <a:ahLst/>
            <a:cxnLst/>
            <a:rect l="0" t="0" r="0" b="0"/>
            <a:pathLst>
              <a:path w="702" h="122">
                <a:moveTo>
                  <a:pt x="0" y="0"/>
                </a:moveTo>
                <a:lnTo>
                  <a:pt x="4" y="0"/>
                </a:lnTo>
                <a:lnTo>
                  <a:pt x="4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5181600" y="4000500"/>
            <a:ext cx="6438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03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　完整的学生—教师—桌面流程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5181600" y="4352925"/>
            <a:ext cx="64389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申诉、教师改分、多账号、备份与免安装交付形成可用产品。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571500" y="5486400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可演示、可追溯、可继续迭代，是项目从课程作业走向产品原型的关键。</a:t>
            </a:r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 }}&gt;&#10;  &lt;Box style={{ width: 1280, height: 68, background: '#1E4FA8', padding: '0 60px', flexDirection: 'row', alignItems: 'center', justifyContent: 'space-between' }}&gt;&#10;    &lt;Text style={{ fontSize: 34, color: '#FFFFFF', fontWeight: 'bold' }}&gt;项目总结与反思&lt;/Text&gt;&#10;    &lt;Text style={{ fontSize: 16, color: '#DCE8FA' }}&gt;04 · REFLECTION&lt;/Text&gt;&#10;  &lt;/Box&gt;&#10;  &lt;Box style={{ width: 1160, height: 540, margin: '28px 60px 0', flexDirection: 'column' }}&gt;&#10;    &lt;Text style={{ fontSize: 20, color: '#4A5568' }}&gt;核心功能已经完成，下一步重点是把自动评价和真实教学验证做得更扎实。&lt;/Text&gt;&#10;    &lt;Box style={{ marginTop: 22, flexDirection: 'row', gap: 34, height: 418 }}&gt;&#10;      &lt;Box style={{ width: 478, flexDirection: 'column' }}&gt;&#10;        &lt;Text style={{ fontSize: 24, color: '#1A2230', fontWeight: 'bold' }}&gt;完成情况与收获&lt;/Text&gt;&#10;        &lt;Box style={{ marginTop: 16, width: 478, borderTop: '2px solid #1E4FA8', paddingTop: 12 }}&gt;&#10;          &lt;Text style={{ fontSize: 19, color: '#1E4FA8', fontWeight: 'bold' }}&gt;完整流程可运行&lt;/Text&gt;&#10;          &lt;Text style={{ fontSize: 17, color: '#4A5568', marginTop: 5, lineHeight: 1.5 }}&gt;从建课到反馈、申诉、教师审核与进度更新均已打通。&lt;/Text&gt;&#10;        &lt;/Box&gt;&#10;        &lt;Box style={{ marginTop: 16, width: 478, borderTop: '1px solid #D6DCE5', paddingTop: 12 }}&gt;&#10;          &lt;Text style={{ fontSize: 19, color: '#1E4FA8', fontWeight: 'bold' }}&gt;形成可交付版本&lt;/Text&gt;&#10;          &lt;Text style={{ fontSize: 17, color: '#4A5568', marginTop: 5, lineHeight: 1.5 }}&gt;完成 1.3.1 修复、功能检查、Windows 打包与项目材料。&lt;/Text&gt;&#10;        &lt;/Box&gt;&#10;        &lt;Box style={{ marginTop: 16, width: 478, borderTop: '1px solid #D6DCE5', paddingTop: 12 }}&gt;&#10;          &lt;Text style={{ fontSize: 19, color: '#1E4FA8', fontWeight: 'bold' }}&gt;工程能力得到锻炼&lt;/Text&gt;&#10;          &lt;Text style={{ fontSize: 17, color: '#4A5568', marginTop: 5, lineHeight: 1.5 }}&gt;对状态管理、结构化输出、接口协作与版本迭代有了实际经验。&lt;/Text&gt;&#10;        &lt;/Box&gt;&#10;      &lt;/Box&gt;&#10;      &lt;Box style={{ width: 646, background: '#F7F9FC', padding: '18px 22px', flexDirection: 'column' }}&gt;&#10;        &lt;Text style={{ fontSize: 24, color: '#1A2230', fontWeight: 'bold' }}&gt;问题与改进方向&lt;/Text&gt;&#10;        &lt;Box style={{ marginTop: 14, flexDirection: 'row', gap: 14 }}&gt;&#10;          &lt;Text style={{ width: 28, fontSize: 18, color: '#1E4FA8', fontWeight: 'bold' }}&gt;01&lt;/Text&gt;&#10;          &lt;Box style={{ flex: 1 }}&gt;&#10;            &lt;Text style={{ fontSize: 18, color: '#1A2230', fontWeight: 'bold' }}&gt;复杂开放题评价仍需细化&lt;/Text&gt;&#10;            &lt;Text style={{ fontSize: 16, color: '#4A5568', marginTop: 4 }}&gt;补充过程性量规与分步核验，减少单一总分。&lt;/Text&gt;&#10;          &lt;/Box&gt;&#10;        &lt;/Box&gt;&#10;        &lt;Box style={{ marginTop: 16, borderTop: '1px solid #E5E7EB', paddingTop: 12, flexDirection: 'row', gap: 14 }}&gt;&#10;          &lt;Text style={{ width: 28, fontSize: 18, color: '#1E4FA8', fontWeight: 'bold' }}&gt;02&lt;/Text&gt;&#10;          &lt;Box style={{ flex: 1 }}&gt;&#10;            &lt;Text style={{ fontSize: 18, color: '#1A2230', fontWeight: 'bold' }}&gt;课程内容持续邀请教师审定&lt;/Text&gt;&#10;            &lt;Text style={{ fontSize: 16, color: '#4A5568', marginTop: 4 }}&gt;优先复核讲义、例题、标准答案与评分量规。&lt;/Text&gt;&#10;          &lt;/Box&gt;&#10;        &lt;/Box&gt;&#10;        &lt;Box style={{ marginTop: 16, borderTop: '1px solid #E5E7EB', paddingTop: 12, flexDirection: 'row', gap: 14 }}&gt;&#10;          &lt;Text style={{ width: 28, fontSize: 18, color: '#1E4FA8', fontWeight: 'bold' }}&gt;03&lt;/Text&gt;&#10;          &lt;Box style={{ flex: 1 }}&gt;&#10;            &lt;Text style={{ fontSize: 18, color: '#1A2230', fontWeight: 'bold' }}&gt;扩大真实学生试用&lt;/Text&gt;&#10;            &lt;Text style={{ fontSize: 16, color: '#4A5568', marginTop: 4 }}&gt;依据前后测、延迟测和使用反馈调整教学策略。&lt;/Text&gt;&#10;          &lt;/Box&gt;&#10;        &lt;/Box&gt;&#10;        &lt;Box style={{ marginTop: 18, background: '#E8EFF8', padding: '10px 12px' }}&gt;&#10;          &lt;Text style={{ fontSize: 16, color: '#1E4FA8', fontWeight: 'bold' }}&gt;后续目标：从“流程可用”走向“教学有效、结果可信”。&lt;/Text&gt;&#10;        &lt;/Box&gt;&#10;      &lt;/Box&gt;&#10;    &lt;/Box&gt;&#10;    &lt;Text style={{ fontSize: 18, color: '#1E4FA8', fontWeight: 'bold', marginTop: 20 }}&gt;我们更清楚了一个边界：教学软件的价值最终要由真实学习效果来检验。&lt;/Text&gt;&#10;  &lt;/Box&gt;&#10;  &lt;Box style={{ width: 1160, height: 22, margin: '20px 60px 0', flexDirection: 'row', justifyContent: 'space-between' }}&gt;&#10;    &lt;Text style={{ fontSize: 14, color: '#8B97A8' }}&gt;知行 1.3.1 结题答辩&lt;/Text&gt;&#10;    &lt;Text style={{ fontSize: 14, color: '#8B97A8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矩形 32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571500" y="133350"/>
            <a:ext cx="2266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项目总结与反思</a:t>
            </a:r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10401300" y="228600"/>
            <a:ext cx="121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8FA"/>
                </a:solidFill>
                <a:latin typeface="Microsoft YaHei"/>
                <a:ea typeface="Microsoft YaHei"/>
              </a:rPr>
              <a:t>04 · REFLECTION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571500" y="914400"/>
            <a:ext cx="11049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核心功能按计划交付，下一步重点是把自动评价和真实教学验证做得更扎实。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571500" y="1352550"/>
            <a:ext cx="45529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完成情况与收获</a:t>
            </a:r>
            <a:endParaRPr/>
          </a:p>
        </p:txBody>
      </p:sp>
      <p:sp>
        <p:nvSpPr>
          <p:cNvPr id="38" name="任意多边形: 形状 37"/>
          <p:cNvSpPr/>
          <p:nvPr/>
        </p:nvSpPr>
        <p:spPr>
          <a:xfrm>
            <a:off x="571500" y="1781175"/>
            <a:ext cx="4552950" cy="714375"/>
          </a:xfrm>
          <a:custGeom>
            <a:avLst/>
            <a:gdLst/>
            <a:ahLst/>
            <a:cxnLst/>
            <a:rect l="0" t="0" r="0" b="0"/>
            <a:pathLst>
              <a:path w="478" h="75">
                <a:moveTo>
                  <a:pt x="0" y="0"/>
                </a:moveTo>
                <a:lnTo>
                  <a:pt x="478" y="0"/>
                </a:lnTo>
                <a:lnTo>
                  <a:pt x="478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71500" y="1914525"/>
            <a:ext cx="4552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完整流程可运行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571500" y="2181225"/>
            <a:ext cx="45529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从建课到反馈、申诉、教师审核与进度更新均已打通。</a:t>
            </a:r>
            <a:endParaRPr/>
          </a:p>
        </p:txBody>
      </p:sp>
      <p:sp>
        <p:nvSpPr>
          <p:cNvPr id="41" name="任意多边形: 形状 40"/>
          <p:cNvSpPr/>
          <p:nvPr/>
        </p:nvSpPr>
        <p:spPr>
          <a:xfrm>
            <a:off x="571500" y="2628900"/>
            <a:ext cx="4552950" cy="695325"/>
          </a:xfrm>
          <a:custGeom>
            <a:avLst/>
            <a:gdLst/>
            <a:ahLst/>
            <a:cxnLst/>
            <a:rect l="0" t="0" r="0" b="0"/>
            <a:pathLst>
              <a:path w="478" h="73">
                <a:moveTo>
                  <a:pt x="0" y="0"/>
                </a:moveTo>
                <a:lnTo>
                  <a:pt x="478" y="0"/>
                </a:lnTo>
                <a:lnTo>
                  <a:pt x="478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571500" y="2752725"/>
            <a:ext cx="4552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形成可交付版本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71500" y="3019425"/>
            <a:ext cx="45529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完成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1.3.1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修复、功能检查、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Windows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打包与项目材料。</a:t>
            </a:r>
            <a:endParaRPr/>
          </a:p>
        </p:txBody>
      </p:sp>
      <p:sp>
        <p:nvSpPr>
          <p:cNvPr id="44" name="任意多边形: 形状 43"/>
          <p:cNvSpPr/>
          <p:nvPr/>
        </p:nvSpPr>
        <p:spPr>
          <a:xfrm>
            <a:off x="571500" y="3467100"/>
            <a:ext cx="4552950" cy="695325"/>
          </a:xfrm>
          <a:custGeom>
            <a:avLst/>
            <a:gdLst/>
            <a:ahLst/>
            <a:cxnLst/>
            <a:rect l="0" t="0" r="0" b="0"/>
            <a:pathLst>
              <a:path w="478" h="73">
                <a:moveTo>
                  <a:pt x="0" y="0"/>
                </a:moveTo>
                <a:lnTo>
                  <a:pt x="478" y="0"/>
                </a:lnTo>
                <a:lnTo>
                  <a:pt x="478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71500" y="3590925"/>
            <a:ext cx="4552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工程能力得到锻炼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71500" y="3857625"/>
            <a:ext cx="45529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对状态管理、结构化输出、接口协作与版本迭代有了实际经验。</a:t>
            </a:r>
            <a:endParaRPr/>
          </a:p>
        </p:txBody>
      </p:sp>
      <p:sp>
        <p:nvSpPr>
          <p:cNvPr id="47" name="矩形 46"/>
          <p:cNvSpPr/>
          <p:nvPr/>
        </p:nvSpPr>
        <p:spPr>
          <a:xfrm>
            <a:off x="5448300" y="1352550"/>
            <a:ext cx="6153150" cy="3981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657850" y="1524000"/>
            <a:ext cx="57340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问题与改进方向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657850" y="1933575"/>
            <a:ext cx="2667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057900" y="1933575"/>
            <a:ext cx="5334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复杂开放题评价仍需细化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6057900" y="2181225"/>
            <a:ext cx="533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补充过程性量规与分步核验，减少单一总分。</a:t>
            </a:r>
            <a:endParaRPr/>
          </a:p>
        </p:txBody>
      </p:sp>
      <p:sp>
        <p:nvSpPr>
          <p:cNvPr id="52" name="任意多边形: 形状 51"/>
          <p:cNvSpPr/>
          <p:nvPr/>
        </p:nvSpPr>
        <p:spPr>
          <a:xfrm>
            <a:off x="5657850" y="2524125"/>
            <a:ext cx="5734050" cy="571500"/>
          </a:xfrm>
          <a:custGeom>
            <a:avLst/>
            <a:gdLst/>
            <a:ahLst/>
            <a:cxnLst/>
            <a:rect l="0" t="0" r="0" b="0"/>
            <a:pathLst>
              <a:path w="602" h="60">
                <a:moveTo>
                  <a:pt x="0" y="0"/>
                </a:moveTo>
                <a:lnTo>
                  <a:pt x="602" y="0"/>
                </a:lnTo>
                <a:lnTo>
                  <a:pt x="60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5657850" y="2647950"/>
            <a:ext cx="2667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6057900" y="2647950"/>
            <a:ext cx="5334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课程内容持续邀请教师审定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6057900" y="2895600"/>
            <a:ext cx="533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优先复核讲义、例题、标准答案与评分量规。</a:t>
            </a:r>
            <a:endParaRPr/>
          </a:p>
        </p:txBody>
      </p:sp>
      <p:sp>
        <p:nvSpPr>
          <p:cNvPr id="56" name="任意多边形: 形状 55"/>
          <p:cNvSpPr/>
          <p:nvPr/>
        </p:nvSpPr>
        <p:spPr>
          <a:xfrm>
            <a:off x="5657850" y="3238500"/>
            <a:ext cx="5734050" cy="571500"/>
          </a:xfrm>
          <a:custGeom>
            <a:avLst/>
            <a:gdLst/>
            <a:ahLst/>
            <a:cxnLst/>
            <a:rect l="0" t="0" r="0" b="0"/>
            <a:pathLst>
              <a:path w="602" h="60">
                <a:moveTo>
                  <a:pt x="0" y="0"/>
                </a:moveTo>
                <a:lnTo>
                  <a:pt x="602" y="0"/>
                </a:lnTo>
                <a:lnTo>
                  <a:pt x="60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657850" y="3362325"/>
            <a:ext cx="2667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57900" y="3362325"/>
            <a:ext cx="5334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扩大真实学生试用</a:t>
            </a:r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6057900" y="3609975"/>
            <a:ext cx="533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依据前后测、延迟测和使用反馈调整教学策略。</a:t>
            </a:r>
            <a:endParaRPr/>
          </a:p>
        </p:txBody>
      </p:sp>
      <p:sp>
        <p:nvSpPr>
          <p:cNvPr id="60" name="矩形 59"/>
          <p:cNvSpPr/>
          <p:nvPr/>
        </p:nvSpPr>
        <p:spPr>
          <a:xfrm>
            <a:off x="5657850" y="3971925"/>
            <a:ext cx="5734050" cy="381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5772150" y="4067175"/>
            <a:ext cx="5505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后续目标：从“流程可用”走向“教学有效、结果可信”。</a:t>
            </a:r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571500" y="5524500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我们更清楚了一个边界：教学软件的价值最终要由真实学习效果来检验。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71500" y="6248400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知行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1.3.1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结题答辩</a:t>
            </a:r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11163300" y="6248400"/>
            <a:ext cx="45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60px', background: '#1E4FA8', justifyContent: 'center' }}&gt;&#10;  &lt;Box style={{ position: 'absolute', left: 60, top: 60, width: 74, height: 4, background: '#FFFFFF' }} /&gt;&#10;  &lt;Box style={{ width: 1080, alignSelf: 'center', alignItems: 'center' }}&gt;&#10;    &lt;Text style={{ fontSize: 64, color: '#FFFFFF', fontWeight: 'bold', textAlign: 'center' }}&gt;谢谢聆听&lt;/Text&gt;&#10;    &lt;Text style={{ fontSize: 26, color: '#DCE8FA', textAlign: 'center', marginTop: 22 }}&gt;恳请各位老师批评指正&lt;/Text&gt;&#10;    &lt;Text style={{ fontSize: 16, color: '#DCE8FA', textAlign: 'center', marginTop: 56, lineHeight: 1.7 }}&gt;知行：个性化多智能体学习工作室 · 版本 1.3.1&lt;br /&gt;【汇报人】　　2026 年 10 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4876800" y="2228850"/>
            <a:ext cx="2438400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谢谢聆听</a:t>
            </a:r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4857750" y="3171825"/>
            <a:ext cx="2476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950">
                <a:solidFill>
                  <a:srgbClr val="DCE8FA"/>
                </a:solidFill>
                <a:latin typeface="Microsoft YaHei"/>
                <a:ea typeface="Microsoft YaHei"/>
              </a:rPr>
              <a:t>恳请各位老师批评指正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4543425" y="4010025"/>
            <a:ext cx="3105150" cy="628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zh-CN" sz="1200" dirty="0">
                <a:solidFill>
                  <a:srgbClr val="DCE8FA"/>
                </a:solidFill>
                <a:latin typeface="Microsoft YaHei"/>
                <a:ea typeface="Microsoft YaHei"/>
              </a:rPr>
              <a:t>知行：个性化多智能体学习工作室</a:t>
            </a:r>
            <a:r>
              <a:rPr lang="en-US" sz="1200" dirty="0">
                <a:solidFill>
                  <a:srgbClr val="DCE8FA"/>
                </a:solidFill>
                <a:latin typeface="Microsoft YaHei"/>
                <a:ea typeface="Microsoft YaHei"/>
              </a:rPr>
              <a:t> · </a:t>
            </a:r>
            <a:r>
              <a:rPr lang="zh-CN" sz="1200" dirty="0">
                <a:solidFill>
                  <a:srgbClr val="DCE8FA"/>
                </a:solidFill>
                <a:latin typeface="Microsoft YaHei"/>
                <a:ea typeface="Microsoft YaHei"/>
              </a:rPr>
              <a:t>版本</a:t>
            </a:r>
            <a:r>
              <a:rPr lang="en-US" sz="1200" dirty="0">
                <a:solidFill>
                  <a:srgbClr val="DCE8FA"/>
                </a:solidFill>
                <a:latin typeface="Microsoft YaHei"/>
                <a:ea typeface="Microsoft YaHei"/>
              </a:rPr>
              <a:t> 1.3.1</a:t>
            </a:r>
            <a:endParaRPr dirty="0"/>
          </a:p>
          <a:p>
            <a:pPr algn="ctr">
              <a:lnSpc>
                <a:spcPct val="170000"/>
              </a:lnSpc>
            </a:pPr>
            <a:r>
              <a:rPr lang="zh-CN" sz="1200" dirty="0">
                <a:solidFill>
                  <a:srgbClr val="DCE8FA"/>
                </a:solidFill>
                <a:latin typeface="Microsoft YaHei"/>
                <a:ea typeface="Microsoft YaHei"/>
              </a:rPr>
              <a:t>汤家齐　　2026 年 10 月</a:t>
            </a:r>
            <a:r>
              <a:rPr lang="zh-CN" altLang="en-US" sz="1200" dirty="0">
                <a:solidFill>
                  <a:srgbClr val="DCE8FA"/>
                </a:solidFill>
                <a:latin typeface="Microsoft YaHei"/>
                <a:ea typeface="Microsoft YaHei"/>
              </a:rPr>
              <a:t/>
            </a:r>
            <a:r>
              <a:rPr lang="zh-CN" sz="1200" dirty="0">
                <a:solidFill>
                  <a:srgbClr val="DCE8FA"/>
                </a:solidFill>
                <a:latin typeface="Microsoft YaHei"/>
                <a:ea typeface="Microsoft YaHei"/>
              </a:rPr>
              <a:t/>
            </a:r>
            <a:r>
              <a:rPr lang="en-US" sz="1200" dirty="0">
                <a:solidFill>
                  <a:srgbClr val="DCE8FA"/>
                </a:solidFill>
                <a:latin typeface="Microsoft YaHei"/>
                <a:ea typeface="Microsoft YaHei"/>
              </a:rPr>
              <a:t/>
            </a:r>
            <a:r>
              <a:rPr lang="zh-CN" sz="1200" dirty="0">
                <a:solidFill>
                  <a:srgbClr val="DCE8FA"/>
                </a:solidFill>
                <a:latin typeface="Microsoft YaHei"/>
                <a:ea typeface="Microsoft YaHei"/>
              </a:rPr>
              <a:t/>
            </a:r>
            <a:r>
              <a:rPr lang="en-US" sz="1200" dirty="0">
                <a:solidFill>
                  <a:srgbClr val="DCE8FA"/>
                </a:solidFill>
                <a:latin typeface="Microsoft YaHei"/>
                <a:ea typeface="Microsoft YaHei"/>
              </a:rPr>
              <a:t/>
            </a:r>
            <a:r>
              <a:rPr lang="zh-CN" sz="1200" dirty="0">
                <a:solidFill>
                  <a:srgbClr val="DCE8FA"/>
                </a:solidFill>
                <a:latin typeface="Microsoft YaHei"/>
                <a:ea typeface="Microsoft YaHei"/>
              </a:rPr>
              <a:t/>
            </a:r>
            <a:endParaRPr dirty="0"/>
          </a:p>
        </p:txBody>
      </p:sp>
      <p:sp>
        <p:nvSpPr>
          <p:cNvPr id="70" name="矩形 69"/>
          <p:cNvSpPr/>
          <p:nvPr/>
        </p:nvSpPr>
        <p:spPr>
          <a:xfrm>
            <a:off x="571500" y="571500"/>
            <a:ext cx="704850" cy="38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1817</Words>
  <Application>Microsoft Office PowerPoint</Application>
  <PresentationFormat>宽屏</PresentationFormat>
  <Paragraphs>245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家齐 汤</cp:lastModifiedBy>
  <cp:revision>1</cp:revision>
  <dcterms:created xsi:type="dcterms:W3CDTF">2026-10-29T15:57:50Z</dcterms:created>
  <dcterms:modified xsi:type="dcterms:W3CDTF">2026-10-29T08:02:24Z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{"AIGC":{"Label":"1","ContentProducer":"00119111010856365494821B355","ProduceID":"01a1869839b27e1bbcd5cea9b90facc9","ReservedCode1":"","ContentPropagator":"00119111010856365494821B355","PropagateID":"01a1869839b27e1bbcd5cea9b90facc9","ReservedCode2":""}}</vt:lpwstr>
  </property>
</Properties>
</file>